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7" r:id="rId2"/>
    <p:sldId id="260" r:id="rId3"/>
    <p:sldId id="261" r:id="rId4"/>
    <p:sldId id="258" r:id="rId5"/>
    <p:sldId id="259" r:id="rId6"/>
  </p:sldIdLst>
  <p:sldSz cx="6858000" cy="9144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7">
          <p15:clr>
            <a:srgbClr val="A4A3A4"/>
          </p15:clr>
        </p15:guide>
        <p15:guide id="2" pos="35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8694" autoAdjust="0"/>
  </p:normalViewPr>
  <p:slideViewPr>
    <p:cSldViewPr snapToGrid="0">
      <p:cViewPr>
        <p:scale>
          <a:sx n="70" d="100"/>
          <a:sy n="70" d="100"/>
        </p:scale>
        <p:origin x="120" y="48"/>
      </p:cViewPr>
      <p:guideLst>
        <p:guide orient="horz" pos="257"/>
        <p:guide pos="35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B8B786-5ACF-3F46-A579-501C4E3B131B}" type="datetimeFigureOut">
              <a:rPr lang="en-US" smtClean="0"/>
              <a:t>8/4/2015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AA86FF-52D5-7E47-AF3B-226A321B9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51388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25243F-1C71-48BF-8695-F4FBDA3E52DC}" type="datetimeFigureOut">
              <a:rPr lang="en-IN" smtClean="0"/>
              <a:t>04-08-2015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6B4869-E2F4-4899-A417-44DCD5B407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306964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t's 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 userDrawn="1"/>
        </p:nvGrpSpPr>
        <p:grpSpPr>
          <a:xfrm>
            <a:off x="560788" y="2773069"/>
            <a:ext cx="2461812" cy="351131"/>
            <a:chOff x="387782" y="2609610"/>
            <a:chExt cx="2461812" cy="351131"/>
          </a:xfrm>
        </p:grpSpPr>
        <p:sp>
          <p:nvSpPr>
            <p:cNvPr id="29" name="Shape 152"/>
            <p:cNvSpPr/>
            <p:nvPr/>
          </p:nvSpPr>
          <p:spPr>
            <a:xfrm>
              <a:off x="786698" y="2708377"/>
              <a:ext cx="956091" cy="184666"/>
            </a:xfrm>
            <a:prstGeom prst="rect">
              <a:avLst/>
            </a:prstGeom>
            <a:ln w="12700">
              <a:noFill/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 defTabSz="685800">
                <a:defRPr sz="16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n-US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</a:t>
              </a:r>
              <a:r>
                <a:rPr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tart</a:t>
              </a:r>
              <a:r>
                <a:rPr lang="en-US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30" name="Shape 160"/>
            <p:cNvSpPr/>
            <p:nvPr/>
          </p:nvSpPr>
          <p:spPr>
            <a:xfrm flipH="1">
              <a:off x="387782" y="2958430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u="sng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pic>
          <p:nvPicPr>
            <p:cNvPr id="31" name="Imagen 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657" y="2609610"/>
              <a:ext cx="326127" cy="326127"/>
            </a:xfrm>
            <a:prstGeom prst="rect">
              <a:avLst/>
            </a:prstGeom>
          </p:spPr>
        </p:pic>
      </p:grpSp>
      <p:sp>
        <p:nvSpPr>
          <p:cNvPr id="33" name="Shape 161"/>
          <p:cNvSpPr/>
          <p:nvPr/>
        </p:nvSpPr>
        <p:spPr>
          <a:xfrm>
            <a:off x="292100" y="7309234"/>
            <a:ext cx="2805318" cy="261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 indent="228600" defTabSz="685800"/>
            <a:r>
              <a:rPr lang="en-CA"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Ask your partner</a:t>
            </a:r>
            <a:r>
              <a:rPr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:</a:t>
            </a:r>
            <a:endParaRPr sz="11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 Semibold"/>
            </a:endParaRPr>
          </a:p>
        </p:txBody>
      </p:sp>
      <p:sp>
        <p:nvSpPr>
          <p:cNvPr id="36" name="Shape 136"/>
          <p:cNvSpPr/>
          <p:nvPr/>
        </p:nvSpPr>
        <p:spPr>
          <a:xfrm>
            <a:off x="2616200" y="6384039"/>
            <a:ext cx="2618867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lvl="1" indent="228600" algn="l" defTabSz="685800"/>
            <a:r>
              <a:rPr lang="en-US"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Can Do Statements</a:t>
            </a:r>
            <a:r>
              <a:rPr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:</a:t>
            </a:r>
            <a:endParaRPr sz="11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 Semibold"/>
            </a:endParaRPr>
          </a:p>
        </p:txBody>
      </p:sp>
      <p:sp>
        <p:nvSpPr>
          <p:cNvPr id="39" name="Shape 161"/>
          <p:cNvSpPr/>
          <p:nvPr/>
        </p:nvSpPr>
        <p:spPr>
          <a:xfrm>
            <a:off x="279400" y="6337684"/>
            <a:ext cx="2805318" cy="261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 indent="228600" defTabSz="685800"/>
            <a:r>
              <a:rPr lang="en-US"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Learning Outcome:</a:t>
            </a:r>
            <a:endParaRPr sz="11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 Semibold"/>
            </a:endParaRPr>
          </a:p>
        </p:txBody>
      </p:sp>
      <p:sp>
        <p:nvSpPr>
          <p:cNvPr id="65" name="Text Placeholder 64"/>
          <p:cNvSpPr>
            <a:spLocks noGrp="1"/>
          </p:cNvSpPr>
          <p:nvPr>
            <p:ph type="body" sz="quarter" idx="11" hasCustomPrompt="1"/>
          </p:nvPr>
        </p:nvSpPr>
        <p:spPr>
          <a:xfrm>
            <a:off x="469900" y="6597650"/>
            <a:ext cx="2597150" cy="609600"/>
          </a:xfrm>
        </p:spPr>
        <p:txBody>
          <a:bodyPr>
            <a:noAutofit/>
          </a:bodyPr>
          <a:lstStyle>
            <a:lvl1pPr marL="0" indent="0">
              <a:buFont typeface="Arial"/>
              <a:buNone/>
              <a:defRPr sz="100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Learning outcome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508000" y="7556500"/>
            <a:ext cx="2559050" cy="685800"/>
          </a:xfrm>
        </p:spPr>
        <p:txBody>
          <a:bodyPr>
            <a:noAutofit/>
          </a:bodyPr>
          <a:lstStyle>
            <a:lvl1pPr marL="88900" indent="-88900"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Question</a:t>
            </a:r>
          </a:p>
          <a:p>
            <a:pPr lvl="0"/>
            <a:r>
              <a:rPr lang="en-US" dirty="0" smtClean="0"/>
              <a:t>Question</a:t>
            </a:r>
          </a:p>
          <a:p>
            <a:pPr lvl="0"/>
            <a:endParaRPr lang="en-US" dirty="0" smtClean="0"/>
          </a:p>
        </p:txBody>
      </p:sp>
      <p:sp>
        <p:nvSpPr>
          <p:cNvPr id="69" name="Text Placeholder 68"/>
          <p:cNvSpPr>
            <a:spLocks noGrp="1"/>
          </p:cNvSpPr>
          <p:nvPr>
            <p:ph type="body" sz="quarter" idx="13" hasCustomPrompt="1"/>
          </p:nvPr>
        </p:nvSpPr>
        <p:spPr>
          <a:xfrm>
            <a:off x="3244850" y="6597650"/>
            <a:ext cx="3073400" cy="1644650"/>
          </a:xfrm>
        </p:spPr>
        <p:txBody>
          <a:bodyPr>
            <a:noAutofit/>
          </a:bodyPr>
          <a:lstStyle>
            <a:lvl1pPr marL="88900" indent="-88900"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I can</a:t>
            </a:r>
          </a:p>
          <a:p>
            <a:pPr lvl="0"/>
            <a:r>
              <a:rPr lang="en-US" dirty="0" smtClean="0"/>
              <a:t>I can</a:t>
            </a:r>
          </a:p>
          <a:p>
            <a:pPr lvl="0"/>
            <a:r>
              <a:rPr lang="en-US" dirty="0" smtClean="0"/>
              <a:t>I can</a:t>
            </a:r>
          </a:p>
          <a:p>
            <a:pPr lvl="0"/>
            <a:r>
              <a:rPr lang="en-US" dirty="0" smtClean="0"/>
              <a:t>I can</a:t>
            </a:r>
          </a:p>
          <a:p>
            <a:pPr lvl="0"/>
            <a:r>
              <a:rPr lang="en-US" dirty="0" smtClean="0"/>
              <a:t>I an</a:t>
            </a:r>
          </a:p>
        </p:txBody>
      </p:sp>
      <p:sp>
        <p:nvSpPr>
          <p:cNvPr id="73" name="Text Placeholder 64"/>
          <p:cNvSpPr>
            <a:spLocks noGrp="1"/>
          </p:cNvSpPr>
          <p:nvPr>
            <p:ph type="body" sz="quarter" idx="14"/>
          </p:nvPr>
        </p:nvSpPr>
        <p:spPr>
          <a:xfrm>
            <a:off x="469900" y="3244850"/>
            <a:ext cx="5226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86" name="Picture Placeholder 85"/>
          <p:cNvSpPr>
            <a:spLocks noGrp="1"/>
          </p:cNvSpPr>
          <p:nvPr>
            <p:ph type="pic" sz="quarter" idx="18"/>
          </p:nvPr>
        </p:nvSpPr>
        <p:spPr>
          <a:xfrm>
            <a:off x="1866900" y="3873500"/>
            <a:ext cx="3124200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grpSp>
        <p:nvGrpSpPr>
          <p:cNvPr id="46" name="Group 4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47" name="Imagen 3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48" name="Shape 138"/>
            <p:cNvSpPr/>
            <p:nvPr/>
          </p:nvSpPr>
          <p:spPr>
            <a:xfrm>
              <a:off x="4351021" y="310506"/>
              <a:ext cx="2367329" cy="10772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 algn="r"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At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the Clothing Store</a:t>
              </a: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56" name="Imagen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85" name="Group 84"/>
          <p:cNvGrpSpPr/>
          <p:nvPr userDrawn="1"/>
        </p:nvGrpSpPr>
        <p:grpSpPr>
          <a:xfrm>
            <a:off x="553685" y="1022404"/>
            <a:ext cx="5910615" cy="838957"/>
            <a:chOff x="381329" y="1073204"/>
            <a:chExt cx="5910615" cy="838957"/>
          </a:xfrm>
        </p:grpSpPr>
        <p:sp>
          <p:nvSpPr>
            <p:cNvPr id="87" name="Shape 141"/>
            <p:cNvSpPr/>
            <p:nvPr/>
          </p:nvSpPr>
          <p:spPr>
            <a:xfrm>
              <a:off x="381329" y="1073204"/>
              <a:ext cx="700513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Instructor:</a:t>
              </a:r>
            </a:p>
          </p:txBody>
        </p:sp>
        <p:sp>
          <p:nvSpPr>
            <p:cNvPr id="88" name="Shape 142"/>
            <p:cNvSpPr/>
            <p:nvPr/>
          </p:nvSpPr>
          <p:spPr>
            <a:xfrm>
              <a:off x="384032" y="1420790"/>
              <a:ext cx="551433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Learner:</a:t>
              </a:r>
            </a:p>
          </p:txBody>
        </p:sp>
        <p:sp>
          <p:nvSpPr>
            <p:cNvPr id="89" name="Shape 143"/>
            <p:cNvSpPr/>
            <p:nvPr/>
          </p:nvSpPr>
          <p:spPr>
            <a:xfrm>
              <a:off x="3045468" y="1073800"/>
              <a:ext cx="362279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Date:</a:t>
              </a:r>
            </a:p>
          </p:txBody>
        </p:sp>
        <p:sp>
          <p:nvSpPr>
            <p:cNvPr id="90" name="Shape 144"/>
            <p:cNvSpPr/>
            <p:nvPr/>
          </p:nvSpPr>
          <p:spPr>
            <a:xfrm>
              <a:off x="383990" y="1757260"/>
              <a:ext cx="604333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Program:</a:t>
              </a:r>
            </a:p>
          </p:txBody>
        </p:sp>
        <p:sp>
          <p:nvSpPr>
            <p:cNvPr id="91" name="Shape 145"/>
            <p:cNvSpPr/>
            <p:nvPr/>
          </p:nvSpPr>
          <p:spPr>
            <a:xfrm flipH="1" flipV="1">
              <a:off x="1079500" y="1201922"/>
              <a:ext cx="1892578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2" name="Shape 146"/>
            <p:cNvSpPr/>
            <p:nvPr/>
          </p:nvSpPr>
          <p:spPr>
            <a:xfrm flipH="1" flipV="1">
              <a:off x="952500" y="1547974"/>
              <a:ext cx="2019300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3" name="Shape 147"/>
            <p:cNvSpPr/>
            <p:nvPr/>
          </p:nvSpPr>
          <p:spPr>
            <a:xfrm flipH="1" flipV="1">
              <a:off x="3573288" y="1883086"/>
              <a:ext cx="2718656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4" name="Shape 148"/>
            <p:cNvSpPr/>
            <p:nvPr/>
          </p:nvSpPr>
          <p:spPr>
            <a:xfrm flipH="1">
              <a:off x="1010542" y="1875782"/>
              <a:ext cx="1961257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5" name="Shape 149"/>
            <p:cNvSpPr/>
            <p:nvPr/>
          </p:nvSpPr>
          <p:spPr>
            <a:xfrm>
              <a:off x="3020545" y="1425344"/>
              <a:ext cx="1107676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r"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Regional Branch:</a:t>
              </a:r>
            </a:p>
          </p:txBody>
        </p:sp>
        <p:sp>
          <p:nvSpPr>
            <p:cNvPr id="96" name="Shape 150"/>
            <p:cNvSpPr/>
            <p:nvPr/>
          </p:nvSpPr>
          <p:spPr>
            <a:xfrm flipH="1">
              <a:off x="3454400" y="1198153"/>
              <a:ext cx="2827806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7" name="Shape 151"/>
            <p:cNvSpPr/>
            <p:nvPr/>
          </p:nvSpPr>
          <p:spPr>
            <a:xfrm>
              <a:off x="3028225" y="1758273"/>
              <a:ext cx="488916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/>
            <a:p>
              <a:pPr lvl="0" algn="r"/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"/>
                </a:rPr>
                <a:t>Center:</a:t>
              </a:r>
            </a:p>
          </p:txBody>
        </p:sp>
        <p:sp>
          <p:nvSpPr>
            <p:cNvPr id="98" name="Shape 162"/>
            <p:cNvSpPr/>
            <p:nvPr/>
          </p:nvSpPr>
          <p:spPr>
            <a:xfrm flipH="1" flipV="1">
              <a:off x="4156590" y="1545196"/>
              <a:ext cx="2135354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u="sng" dirty="0"/>
            </a:p>
          </p:txBody>
        </p:sp>
      </p:grpSp>
      <p:grpSp>
        <p:nvGrpSpPr>
          <p:cNvPr id="99" name="Group 98"/>
          <p:cNvGrpSpPr/>
          <p:nvPr userDrawn="1"/>
        </p:nvGrpSpPr>
        <p:grpSpPr>
          <a:xfrm>
            <a:off x="554162" y="2137521"/>
            <a:ext cx="4351406" cy="407622"/>
            <a:chOff x="387751" y="2137521"/>
            <a:chExt cx="4351406" cy="407622"/>
          </a:xfrm>
        </p:grpSpPr>
        <p:sp>
          <p:nvSpPr>
            <p:cNvPr id="100" name="Shape 153"/>
            <p:cNvSpPr/>
            <p:nvPr/>
          </p:nvSpPr>
          <p:spPr>
            <a:xfrm>
              <a:off x="393859" y="2137521"/>
              <a:ext cx="1076053" cy="1692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 sz="11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CONTENT</a:t>
              </a:r>
            </a:p>
          </p:txBody>
        </p:sp>
        <p:sp>
          <p:nvSpPr>
            <p:cNvPr id="101" name="Shape 154"/>
            <p:cNvSpPr/>
            <p:nvPr/>
          </p:nvSpPr>
          <p:spPr>
            <a:xfrm>
              <a:off x="387751" y="2406644"/>
              <a:ext cx="914586" cy="1384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>
              <a:spAutoFit/>
            </a:bodyPr>
            <a:lstStyle>
              <a:lvl1pPr marL="110289" indent="-110289" defTabSz="685800">
                <a:buSzPct val="100000"/>
                <a:buChar char="•"/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900" spc="-2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n-US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</a:t>
              </a:r>
              <a:r>
                <a:rPr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tart</a:t>
              </a:r>
              <a:r>
                <a:rPr lang="en-CA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02" name="Shape 155"/>
            <p:cNvSpPr/>
            <p:nvPr/>
          </p:nvSpPr>
          <p:spPr>
            <a:xfrm>
              <a:off x="2161245" y="2406644"/>
              <a:ext cx="1600201" cy="1384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>
              <a:spAutoFit/>
            </a:bodyPr>
            <a:lstStyle>
              <a:lvl1pPr marL="110289" indent="-110289" defTabSz="685800">
                <a:buSzPct val="100000"/>
                <a:buChar char="•"/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900" spc="-2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Practice</a:t>
              </a:r>
              <a:r>
                <a:rPr lang="en-CA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03" name="Shape 156"/>
            <p:cNvSpPr/>
            <p:nvPr/>
          </p:nvSpPr>
          <p:spPr>
            <a:xfrm>
              <a:off x="1204888" y="2406644"/>
              <a:ext cx="1437549" cy="1384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>
              <a:spAutoFit/>
            </a:bodyPr>
            <a:lstStyle>
              <a:lvl1pPr marL="110289" indent="-110289" defTabSz="685800">
                <a:buSzPct val="100000"/>
                <a:buChar char="•"/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900" spc="-2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Explore</a:t>
              </a:r>
              <a:r>
                <a:rPr lang="en-CA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04" name="Shape 158"/>
            <p:cNvSpPr/>
            <p:nvPr/>
          </p:nvSpPr>
          <p:spPr>
            <a:xfrm>
              <a:off x="3138956" y="2406644"/>
              <a:ext cx="1600201" cy="1384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>
              <a:spAutoFit/>
            </a:bodyPr>
            <a:lstStyle>
              <a:lvl1pPr marL="110289" indent="-110289" defTabSz="685800">
                <a:buSzPct val="100000"/>
                <a:buChar char="•"/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lang="en-US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Extension Activity</a:t>
              </a:r>
              <a:endPara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sp>
        <p:nvSpPr>
          <p:cNvPr id="105" name="Shape 157"/>
          <p:cNvSpPr/>
          <p:nvPr userDrawn="1"/>
        </p:nvSpPr>
        <p:spPr>
          <a:xfrm>
            <a:off x="5482678" y="2407349"/>
            <a:ext cx="1600201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marL="110289" indent="-110289" defTabSz="685800">
              <a:buSzPct val="100000"/>
              <a:buChar char="•"/>
              <a:defRPr sz="1100">
                <a:latin typeface="Myriad Pro"/>
                <a:ea typeface="Myriad Pro"/>
                <a:cs typeface="Myriad Pro"/>
                <a:sym typeface="Myriad Pro"/>
              </a:defRPr>
            </a:lvl1pPr>
          </a:lstStyle>
          <a:p>
            <a:pPr lvl="0">
              <a:defRPr sz="1800"/>
            </a:pPr>
            <a:r>
              <a:rPr lang="en-US"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Learning P</a:t>
            </a:r>
            <a:r>
              <a:rPr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oint</a:t>
            </a:r>
            <a:r>
              <a:rPr lang="en-US"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</a:t>
            </a:r>
            <a:endParaRPr sz="900" spc="-2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6" name="Shape 158"/>
          <p:cNvSpPr/>
          <p:nvPr userDrawn="1"/>
        </p:nvSpPr>
        <p:spPr>
          <a:xfrm>
            <a:off x="4513622" y="2406644"/>
            <a:ext cx="1600201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marL="110289" indent="-110289" defTabSz="685800">
              <a:buSzPct val="100000"/>
              <a:buChar char="•"/>
              <a:defRPr sz="1100">
                <a:latin typeface="Myriad Pro"/>
                <a:ea typeface="Myriad Pro"/>
                <a:cs typeface="Myriad Pro"/>
                <a:sym typeface="Myriad Pro"/>
              </a:defRPr>
            </a:lvl1pPr>
          </a:lstStyle>
          <a:p>
            <a:pPr lvl="0">
              <a:defRPr sz="1800"/>
            </a:pPr>
            <a:r>
              <a: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Target </a:t>
            </a:r>
            <a:r>
              <a:rPr lang="en-US"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</a:t>
            </a:r>
            <a:r>
              <a:rPr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ords</a:t>
            </a:r>
            <a:endParaRPr sz="900" spc="-2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45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54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5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57" name="TextBox 56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  <p:sp>
        <p:nvSpPr>
          <p:cNvPr id="44" name="Title 14"/>
          <p:cNvSpPr>
            <a:spLocks noGrp="1"/>
          </p:cNvSpPr>
          <p:nvPr>
            <p:ph type="title" hasCustomPrompt="1"/>
          </p:nvPr>
        </p:nvSpPr>
        <p:spPr>
          <a:xfrm>
            <a:off x="1758832" y="234799"/>
            <a:ext cx="1270102" cy="217747"/>
          </a:xfrm>
        </p:spPr>
        <p:txBody>
          <a:bodyPr>
            <a:normAutofit/>
          </a:bodyPr>
          <a:lstStyle>
            <a:lvl1pPr>
              <a:defRPr sz="1200" baseline="0">
                <a:solidFill>
                  <a:srgbClr val="FFFFFF"/>
                </a:solidFill>
              </a:defRPr>
            </a:lvl1pPr>
          </a:lstStyle>
          <a:p>
            <a:r>
              <a:rPr lang="en-CA" dirty="0" smtClean="0"/>
              <a:t>Lesson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t's Explo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7" name="Imagen 3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8" name="Shape 138"/>
            <p:cNvSpPr/>
            <p:nvPr/>
          </p:nvSpPr>
          <p:spPr>
            <a:xfrm>
              <a:off x="4314346" y="316856"/>
              <a:ext cx="2404004" cy="21544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At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the Clothing Store</a:t>
              </a: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lvl="0" algn="r">
                <a:defRPr sz="1800"/>
              </a:pP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10" name="Imagen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11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12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3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564312" y="1045638"/>
            <a:ext cx="2461812" cy="358806"/>
            <a:chOff x="394132" y="1045638"/>
            <a:chExt cx="2461812" cy="358806"/>
          </a:xfrm>
        </p:grpSpPr>
        <p:sp>
          <p:nvSpPr>
            <p:cNvPr id="16" name="Shape 176"/>
            <p:cNvSpPr/>
            <p:nvPr/>
          </p:nvSpPr>
          <p:spPr>
            <a:xfrm>
              <a:off x="785439" y="1123089"/>
              <a:ext cx="1179860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n-US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</a:t>
              </a:r>
              <a:r>
                <a:rPr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xplore</a:t>
              </a:r>
              <a:r>
                <a:rPr lang="en-CA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7" name="Shape 160"/>
            <p:cNvSpPr/>
            <p:nvPr/>
          </p:nvSpPr>
          <p:spPr>
            <a:xfrm flipH="1">
              <a:off x="394132" y="1402133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pic>
          <p:nvPicPr>
            <p:cNvPr id="18" name="Imagen 1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4768" y="1045638"/>
              <a:ext cx="327600" cy="327600"/>
            </a:xfrm>
            <a:prstGeom prst="rect">
              <a:avLst/>
            </a:prstGeom>
          </p:spPr>
        </p:pic>
      </p:grpSp>
      <p:sp>
        <p:nvSpPr>
          <p:cNvPr id="21" name="Picture Placeholder 85"/>
          <p:cNvSpPr>
            <a:spLocks noGrp="1"/>
          </p:cNvSpPr>
          <p:nvPr>
            <p:ph type="pic" sz="quarter" idx="18"/>
          </p:nvPr>
        </p:nvSpPr>
        <p:spPr>
          <a:xfrm>
            <a:off x="1866900" y="2184400"/>
            <a:ext cx="3124200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2" name="Text Placeholder 68"/>
          <p:cNvSpPr>
            <a:spLocks noGrp="1"/>
          </p:cNvSpPr>
          <p:nvPr>
            <p:ph type="body" sz="quarter" idx="16" hasCustomPrompt="1"/>
          </p:nvPr>
        </p:nvSpPr>
        <p:spPr>
          <a:xfrm>
            <a:off x="476250" y="5048250"/>
            <a:ext cx="5842000" cy="3200400"/>
          </a:xfrm>
        </p:spPr>
        <p:txBody>
          <a:bodyPr>
            <a:noAutofit/>
          </a:bodyPr>
          <a:lstStyle>
            <a:lvl1pPr marL="0" indent="0" algn="l" defTabSz="685800" rtl="0">
              <a:lnSpc>
                <a:spcPct val="90000"/>
              </a:lnSpc>
              <a:spcBef>
                <a:spcPts val="100"/>
              </a:spcBef>
              <a:buFont typeface="+mj-lt"/>
              <a:buNone/>
              <a:tabLst>
                <a:tab pos="1079500" algn="l"/>
              </a:tabLst>
              <a:defRPr sz="1000" b="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algn="l" rtl="0">
              <a:spcBef>
                <a:spcPts val="100"/>
              </a:spcBef>
              <a:tabLst>
                <a:tab pos="806450" algn="l"/>
              </a:tabLst>
            </a:pPr>
            <a:r>
              <a:rPr lang="en-CA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Verdana"/>
              </a:rPr>
              <a:t>Conversation </a:t>
            </a:r>
            <a:r>
              <a:rPr lang="en-CA" b="1" i="1" dirty="0" smtClean="0">
                <a:solidFill>
                  <a:schemeClr val="bg1">
                    <a:lumMod val="75000"/>
                  </a:schemeClr>
                </a:solidFill>
                <a:latin typeface="+mn-lt"/>
                <a:cs typeface="Verdana"/>
              </a:rPr>
              <a:t>1</a:t>
            </a:r>
          </a:p>
          <a:p>
            <a:pPr rtl="0">
              <a:spcBef>
                <a:spcPts val="100"/>
              </a:spcBef>
              <a:tabLst>
                <a:tab pos="806450" algn="l"/>
              </a:tabLst>
            </a:pPr>
            <a:endParaRPr lang="en-CA" sz="1000" b="1" dirty="0" smtClean="0">
              <a:latin typeface="+mn-lt"/>
              <a:cs typeface="Verdana"/>
            </a:endParaRP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Bill</a:t>
            </a:r>
            <a:r>
              <a:rPr lang="en-CA" sz="1000" dirty="0" smtClean="0">
                <a:latin typeface="+mn-lt"/>
                <a:cs typeface="Verdana"/>
              </a:rPr>
              <a:t>:	Good morning, Ms. Smith. My name is Bill.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Ms. Smith</a:t>
            </a:r>
            <a:r>
              <a:rPr lang="en-CA" sz="1000" dirty="0" smtClean="0">
                <a:latin typeface="+mn-lt"/>
                <a:cs typeface="Verdana"/>
              </a:rPr>
              <a:t>:	Good morning, Bill. The weather is nice today!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Bill</a:t>
            </a:r>
            <a:r>
              <a:rPr lang="en-CA" sz="1000" dirty="0" smtClean="0">
                <a:latin typeface="+mn-lt"/>
                <a:cs typeface="Verdana"/>
              </a:rPr>
              <a:t>:	Yes, I love this weather. Summer is my </a:t>
            </a:r>
            <a:r>
              <a:rPr lang="en-CA" sz="1000" dirty="0" err="1" smtClean="0">
                <a:latin typeface="+mn-lt"/>
                <a:cs typeface="Verdana"/>
              </a:rPr>
              <a:t>favorite</a:t>
            </a:r>
            <a:r>
              <a:rPr lang="en-CA" sz="1000" dirty="0" smtClean="0">
                <a:latin typeface="+mn-lt"/>
                <a:cs typeface="Verdana"/>
              </a:rPr>
              <a:t> season.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Ms. Smith</a:t>
            </a:r>
            <a:r>
              <a:rPr lang="en-CA" sz="1000" dirty="0" smtClean="0">
                <a:latin typeface="+mn-lt"/>
                <a:cs typeface="Verdana"/>
              </a:rPr>
              <a:t>:	Winter is my </a:t>
            </a:r>
            <a:r>
              <a:rPr lang="en-CA" sz="1000" dirty="0" err="1" smtClean="0">
                <a:latin typeface="+mn-lt"/>
                <a:cs typeface="Verdana"/>
              </a:rPr>
              <a:t>favorite</a:t>
            </a:r>
            <a:r>
              <a:rPr lang="en-CA" sz="1000" dirty="0" smtClean="0">
                <a:latin typeface="+mn-lt"/>
                <a:cs typeface="Verdana"/>
              </a:rPr>
              <a:t> season.</a:t>
            </a:r>
          </a:p>
          <a:p>
            <a:pPr rtl="0">
              <a:spcBef>
                <a:spcPts val="100"/>
              </a:spcBef>
            </a:pPr>
            <a:endParaRPr lang="en-CA" sz="1000" b="1" dirty="0" smtClean="0">
              <a:latin typeface="+mn-lt"/>
              <a:cs typeface="Verdana"/>
            </a:endParaRPr>
          </a:p>
          <a:p>
            <a:pPr algn="l" rtl="0">
              <a:spcBef>
                <a:spcPts val="100"/>
              </a:spcBef>
              <a:tabLst>
                <a:tab pos="806450" algn="l"/>
              </a:tabLst>
            </a:pPr>
            <a:r>
              <a:rPr lang="en-CA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Verdana"/>
              </a:rPr>
              <a:t>Conversation</a:t>
            </a:r>
            <a:r>
              <a:rPr lang="en-CA" sz="1000" b="1" dirty="0" smtClean="0">
                <a:latin typeface="+mn-lt"/>
                <a:cs typeface="Verdana"/>
              </a:rPr>
              <a:t> </a:t>
            </a:r>
            <a:r>
              <a:rPr lang="en-CA" b="1" i="1" dirty="0" smtClean="0">
                <a:solidFill>
                  <a:srgbClr val="BFBFBF"/>
                </a:solidFill>
                <a:latin typeface="+mn-lt"/>
                <a:cs typeface="Verdana"/>
              </a:rPr>
              <a:t>2</a:t>
            </a:r>
          </a:p>
          <a:p>
            <a:pPr rtl="0">
              <a:spcBef>
                <a:spcPts val="100"/>
              </a:spcBef>
              <a:tabLst>
                <a:tab pos="806450" algn="l"/>
              </a:tabLst>
            </a:pPr>
            <a:endParaRPr lang="en-CA" sz="1000" b="1" dirty="0" smtClean="0">
              <a:latin typeface="+mn-lt"/>
              <a:cs typeface="Verdana"/>
            </a:endParaRP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Angela</a:t>
            </a:r>
            <a:r>
              <a:rPr lang="en-CA" sz="1000" dirty="0" smtClean="0">
                <a:latin typeface="+mn-lt"/>
                <a:cs typeface="Verdana"/>
              </a:rPr>
              <a:t>:	Good afternoon, Kenji.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Kenji</a:t>
            </a:r>
            <a:r>
              <a:rPr lang="en-CA" sz="1000" dirty="0" smtClean="0">
                <a:latin typeface="+mn-lt"/>
                <a:cs typeface="Verdana"/>
              </a:rPr>
              <a:t>:</a:t>
            </a:r>
            <a:r>
              <a:rPr lang="en-CA" sz="1000" b="1" dirty="0" smtClean="0">
                <a:latin typeface="+mn-lt"/>
                <a:cs typeface="Verdana"/>
              </a:rPr>
              <a:t>	</a:t>
            </a:r>
            <a:r>
              <a:rPr lang="en-CA" sz="1000" dirty="0" smtClean="0">
                <a:latin typeface="+mn-lt"/>
                <a:cs typeface="Verdana"/>
              </a:rPr>
              <a:t>Good afternoon to you too, Angela. I am happy it is Friday!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Angela</a:t>
            </a:r>
            <a:r>
              <a:rPr lang="en-CA" sz="1000" dirty="0" smtClean="0">
                <a:latin typeface="+mn-lt"/>
                <a:cs typeface="Verdana"/>
              </a:rPr>
              <a:t>:	I am too.</a:t>
            </a:r>
          </a:p>
          <a:p>
            <a:pPr algn="l" rtl="0">
              <a:spcBef>
                <a:spcPts val="100"/>
              </a:spcBef>
              <a:tabLst>
                <a:tab pos="806450" algn="l"/>
              </a:tabLst>
            </a:pPr>
            <a:endParaRPr lang="en-CA" sz="1000" b="0" dirty="0" smtClean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algn="l" rtl="0">
              <a:spcBef>
                <a:spcPts val="100"/>
              </a:spcBef>
              <a:tabLst>
                <a:tab pos="806450" algn="l"/>
              </a:tabLst>
            </a:pPr>
            <a:r>
              <a:rPr lang="en-CA" sz="1000" b="1" dirty="0" smtClean="0">
                <a:solidFill>
                  <a:srgbClr val="595959"/>
                </a:solidFill>
                <a:latin typeface="+mn-lt"/>
                <a:cs typeface="Verdana"/>
              </a:rPr>
              <a:t>Conversation</a:t>
            </a:r>
            <a:r>
              <a:rPr lang="en-CA" sz="1000" b="1" dirty="0" smtClean="0">
                <a:latin typeface="+mn-lt"/>
                <a:cs typeface="Verdana"/>
              </a:rPr>
              <a:t> </a:t>
            </a:r>
            <a:r>
              <a:rPr lang="en-CA" b="1" i="1" dirty="0" smtClean="0">
                <a:solidFill>
                  <a:srgbClr val="BFBFBF"/>
                </a:solidFill>
                <a:latin typeface="+mn-lt"/>
                <a:cs typeface="Verdana"/>
              </a:rPr>
              <a:t>3</a:t>
            </a:r>
          </a:p>
          <a:p>
            <a:pPr rtl="0">
              <a:spcBef>
                <a:spcPts val="100"/>
              </a:spcBef>
              <a:tabLst>
                <a:tab pos="806450" algn="l"/>
              </a:tabLst>
            </a:pPr>
            <a:endParaRPr lang="en-CA" sz="1000" b="1" dirty="0" smtClean="0">
              <a:latin typeface="+mn-lt"/>
              <a:cs typeface="Verdana"/>
            </a:endParaRP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Dad</a:t>
            </a:r>
            <a:r>
              <a:rPr lang="en-CA" sz="1000" dirty="0" smtClean="0">
                <a:latin typeface="+mn-lt"/>
                <a:cs typeface="Verdana"/>
              </a:rPr>
              <a:t>:	Hey, Jenny.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Jenny</a:t>
            </a:r>
            <a:r>
              <a:rPr lang="en-CA" sz="1000" dirty="0" smtClean="0">
                <a:latin typeface="+mn-lt"/>
                <a:cs typeface="Verdana"/>
              </a:rPr>
              <a:t>:	Hi, Dad. It is movie night tonight.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Dad</a:t>
            </a:r>
            <a:r>
              <a:rPr lang="en-CA" sz="1000" dirty="0" smtClean="0">
                <a:latin typeface="+mn-lt"/>
                <a:cs typeface="Verdana"/>
              </a:rPr>
              <a:t>:	It is pizza night too!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Jenny</a:t>
            </a:r>
            <a:r>
              <a:rPr lang="en-CA" sz="1000" dirty="0" smtClean="0">
                <a:latin typeface="+mn-lt"/>
                <a:cs typeface="Verdana"/>
              </a:rPr>
              <a:t>:	YESSSSSSS!</a:t>
            </a:r>
          </a:p>
        </p:txBody>
      </p:sp>
      <p:sp>
        <p:nvSpPr>
          <p:cNvPr id="24" name="Text Placeholder 64"/>
          <p:cNvSpPr>
            <a:spLocks noGrp="1"/>
          </p:cNvSpPr>
          <p:nvPr>
            <p:ph type="body" sz="quarter" idx="14" hasCustomPrompt="1"/>
          </p:nvPr>
        </p:nvSpPr>
        <p:spPr>
          <a:xfrm>
            <a:off x="469900" y="1555750"/>
            <a:ext cx="5226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  <p:sp>
        <p:nvSpPr>
          <p:cNvPr id="19" name="Title 14"/>
          <p:cNvSpPr>
            <a:spLocks noGrp="1"/>
          </p:cNvSpPr>
          <p:nvPr>
            <p:ph type="title" hasCustomPrompt="1"/>
          </p:nvPr>
        </p:nvSpPr>
        <p:spPr>
          <a:xfrm>
            <a:off x="1758832" y="234799"/>
            <a:ext cx="1270102" cy="217747"/>
          </a:xfrm>
        </p:spPr>
        <p:txBody>
          <a:bodyPr>
            <a:normAutofit/>
          </a:bodyPr>
          <a:lstStyle>
            <a:lvl1pPr>
              <a:defRPr sz="1200" baseline="0">
                <a:solidFill>
                  <a:srgbClr val="FFFFFF"/>
                </a:solidFill>
              </a:defRPr>
            </a:lvl1pPr>
          </a:lstStyle>
          <a:p>
            <a:r>
              <a:rPr lang="en-CA" dirty="0" smtClean="0"/>
              <a:t>Lesson Title</a:t>
            </a:r>
            <a:endParaRPr lang="en-US" dirty="0"/>
          </a:p>
        </p:txBody>
      </p:sp>
      <p:sp>
        <p:nvSpPr>
          <p:cNvPr id="20" name="Text Placeholder 64"/>
          <p:cNvSpPr txBox="1">
            <a:spLocks/>
          </p:cNvSpPr>
          <p:nvPr userDrawn="1"/>
        </p:nvSpPr>
        <p:spPr>
          <a:xfrm>
            <a:off x="467130" y="4787640"/>
            <a:ext cx="5848350" cy="22860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1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 smtClean="0">
                <a:cs typeface="Verdana"/>
              </a:rPr>
              <a:t>Instructions: Read the dialogue aloud.</a:t>
            </a:r>
            <a:endParaRPr lang="en-US" sz="1000" dirty="0"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355555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t's Pract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7" name="Imagen 3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8" name="Shape 138"/>
            <p:cNvSpPr/>
            <p:nvPr/>
          </p:nvSpPr>
          <p:spPr>
            <a:xfrm>
              <a:off x="4314346" y="316856"/>
              <a:ext cx="2404004" cy="21544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At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the Clothing Store</a:t>
              </a: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lvl="0" algn="r">
                <a:defRPr sz="1800"/>
              </a:pP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10" name="Imagen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11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12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3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  <p:sp>
        <p:nvSpPr>
          <p:cNvPr id="24" name="Text Placeholder 64"/>
          <p:cNvSpPr>
            <a:spLocks noGrp="1"/>
          </p:cNvSpPr>
          <p:nvPr>
            <p:ph type="body" sz="quarter" idx="14" hasCustomPrompt="1"/>
          </p:nvPr>
        </p:nvSpPr>
        <p:spPr>
          <a:xfrm>
            <a:off x="469900" y="1555750"/>
            <a:ext cx="5861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  <p:grpSp>
        <p:nvGrpSpPr>
          <p:cNvPr id="27" name="Group 7"/>
          <p:cNvGrpSpPr/>
          <p:nvPr userDrawn="1"/>
        </p:nvGrpSpPr>
        <p:grpSpPr>
          <a:xfrm>
            <a:off x="565150" y="1043658"/>
            <a:ext cx="2461812" cy="366794"/>
            <a:chOff x="394262" y="1044000"/>
            <a:chExt cx="2461812" cy="366794"/>
          </a:xfrm>
        </p:grpSpPr>
        <p:sp>
          <p:nvSpPr>
            <p:cNvPr id="28" name="Shape 160"/>
            <p:cNvSpPr/>
            <p:nvPr/>
          </p:nvSpPr>
          <p:spPr>
            <a:xfrm flipH="1">
              <a:off x="394262" y="1408483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9" name="Shape 176"/>
            <p:cNvSpPr/>
            <p:nvPr/>
          </p:nvSpPr>
          <p:spPr>
            <a:xfrm>
              <a:off x="779876" y="1123757"/>
              <a:ext cx="1225320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Practice!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pic>
          <p:nvPicPr>
            <p:cNvPr id="30" name="Imagen 3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6000" y="1044000"/>
              <a:ext cx="327600" cy="327600"/>
            </a:xfrm>
            <a:prstGeom prst="rect">
              <a:avLst/>
            </a:prstGeom>
          </p:spPr>
        </p:pic>
      </p:grpSp>
      <p:grpSp>
        <p:nvGrpSpPr>
          <p:cNvPr id="32" name="Group 7"/>
          <p:cNvGrpSpPr/>
          <p:nvPr userDrawn="1"/>
        </p:nvGrpSpPr>
        <p:grpSpPr>
          <a:xfrm>
            <a:off x="565712" y="4682208"/>
            <a:ext cx="2461812" cy="366794"/>
            <a:chOff x="394262" y="1044000"/>
            <a:chExt cx="2461812" cy="366794"/>
          </a:xfrm>
        </p:grpSpPr>
        <p:sp>
          <p:nvSpPr>
            <p:cNvPr id="33" name="Shape 160"/>
            <p:cNvSpPr/>
            <p:nvPr/>
          </p:nvSpPr>
          <p:spPr>
            <a:xfrm flipH="1">
              <a:off x="394262" y="1408483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4" name="Shape 176"/>
            <p:cNvSpPr/>
            <p:nvPr/>
          </p:nvSpPr>
          <p:spPr>
            <a:xfrm>
              <a:off x="779876" y="1123757"/>
              <a:ext cx="1225320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Practice!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pic>
          <p:nvPicPr>
            <p:cNvPr id="35" name="Imagen 3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6000" y="1044000"/>
              <a:ext cx="327600" cy="327600"/>
            </a:xfrm>
            <a:prstGeom prst="rect">
              <a:avLst/>
            </a:prstGeom>
          </p:spPr>
        </p:pic>
      </p:grpSp>
      <p:sp>
        <p:nvSpPr>
          <p:cNvPr id="37" name="Text Placeholder 64"/>
          <p:cNvSpPr>
            <a:spLocks noGrp="1"/>
          </p:cNvSpPr>
          <p:nvPr>
            <p:ph type="body" sz="quarter" idx="21" hasCustomPrompt="1"/>
          </p:nvPr>
        </p:nvSpPr>
        <p:spPr>
          <a:xfrm>
            <a:off x="469900" y="5048250"/>
            <a:ext cx="5861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  <p:sp>
        <p:nvSpPr>
          <p:cNvPr id="25" name="Title 14"/>
          <p:cNvSpPr>
            <a:spLocks noGrp="1"/>
          </p:cNvSpPr>
          <p:nvPr>
            <p:ph type="title" hasCustomPrompt="1"/>
          </p:nvPr>
        </p:nvSpPr>
        <p:spPr>
          <a:xfrm>
            <a:off x="1758832" y="234799"/>
            <a:ext cx="1270102" cy="217747"/>
          </a:xfrm>
        </p:spPr>
        <p:txBody>
          <a:bodyPr>
            <a:normAutofit/>
          </a:bodyPr>
          <a:lstStyle>
            <a:lvl1pPr>
              <a:defRPr sz="1200" baseline="0">
                <a:solidFill>
                  <a:srgbClr val="FFFFFF"/>
                </a:solidFill>
              </a:defRPr>
            </a:lvl1pPr>
          </a:lstStyle>
          <a:p>
            <a:r>
              <a:rPr lang="en-CA" dirty="0" smtClean="0"/>
              <a:t>Lesson Title</a:t>
            </a:r>
            <a:endParaRPr lang="en-US" dirty="0"/>
          </a:p>
        </p:txBody>
      </p:sp>
      <p:sp>
        <p:nvSpPr>
          <p:cNvPr id="36" name="Text Placeholder 64"/>
          <p:cNvSpPr>
            <a:spLocks noGrp="1"/>
          </p:cNvSpPr>
          <p:nvPr>
            <p:ph type="body" sz="quarter" idx="22" hasCustomPrompt="1"/>
          </p:nvPr>
        </p:nvSpPr>
        <p:spPr>
          <a:xfrm>
            <a:off x="469028" y="2000115"/>
            <a:ext cx="5861050" cy="412750"/>
          </a:xfrm>
        </p:spPr>
        <p:txBody>
          <a:bodyPr>
            <a:noAutofit/>
          </a:bodyPr>
          <a:lstStyle>
            <a:lvl1pPr>
              <a:buNone/>
              <a:defRPr sz="1000" i="1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Instructions:</a:t>
            </a:r>
          </a:p>
        </p:txBody>
      </p:sp>
      <p:sp>
        <p:nvSpPr>
          <p:cNvPr id="38" name="Text Placeholder 64"/>
          <p:cNvSpPr>
            <a:spLocks noGrp="1"/>
          </p:cNvSpPr>
          <p:nvPr>
            <p:ph type="body" sz="quarter" idx="23" hasCustomPrompt="1"/>
          </p:nvPr>
        </p:nvSpPr>
        <p:spPr>
          <a:xfrm>
            <a:off x="460857" y="5495522"/>
            <a:ext cx="5861050" cy="412750"/>
          </a:xfrm>
        </p:spPr>
        <p:txBody>
          <a:bodyPr>
            <a:noAutofit/>
          </a:bodyPr>
          <a:lstStyle>
            <a:lvl1pPr>
              <a:buNone/>
              <a:defRPr sz="1000" i="1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Instructions:</a:t>
            </a:r>
          </a:p>
        </p:txBody>
      </p:sp>
    </p:spTree>
    <p:extLst>
      <p:ext uri="{BB962C8B-B14F-4D97-AF65-F5344CB8AC3E}">
        <p14:creationId xmlns:p14="http://schemas.microsoft.com/office/powerpoint/2010/main" val="611868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tension Activity &amp; Target Wo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47" name="Imagen 3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48" name="Shape 138"/>
            <p:cNvSpPr/>
            <p:nvPr/>
          </p:nvSpPr>
          <p:spPr>
            <a:xfrm>
              <a:off x="4314346" y="316856"/>
              <a:ext cx="2404004" cy="21544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At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the Clothing Store</a:t>
              </a: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lvl="0" algn="r">
                <a:defRPr sz="1800"/>
              </a:pP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56" name="Imagen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45" name="Group 8"/>
          <p:cNvGrpSpPr/>
          <p:nvPr userDrawn="1"/>
        </p:nvGrpSpPr>
        <p:grpSpPr>
          <a:xfrm>
            <a:off x="561159" y="1036723"/>
            <a:ext cx="2462329" cy="366120"/>
            <a:chOff x="389650" y="4592417"/>
            <a:chExt cx="2462329" cy="366120"/>
          </a:xfrm>
        </p:grpSpPr>
        <p:pic>
          <p:nvPicPr>
            <p:cNvPr id="54" name="Imagen 2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650" y="4592417"/>
              <a:ext cx="327600" cy="327600"/>
            </a:xfrm>
            <a:prstGeom prst="rect">
              <a:avLst/>
            </a:prstGeom>
          </p:spPr>
        </p:pic>
        <p:sp>
          <p:nvSpPr>
            <p:cNvPr id="55" name="Shape 176"/>
            <p:cNvSpPr/>
            <p:nvPr/>
          </p:nvSpPr>
          <p:spPr>
            <a:xfrm>
              <a:off x="776282" y="4668506"/>
              <a:ext cx="1615827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 algn="l">
                <a:defRPr sz="1800"/>
              </a:pP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Extension Activity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57" name="Shape 160"/>
            <p:cNvSpPr/>
            <p:nvPr/>
          </p:nvSpPr>
          <p:spPr>
            <a:xfrm flipH="1">
              <a:off x="390167" y="4956226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grpSp>
        <p:nvGrpSpPr>
          <p:cNvPr id="76" name="Group 12"/>
          <p:cNvGrpSpPr/>
          <p:nvPr userDrawn="1"/>
        </p:nvGrpSpPr>
        <p:grpSpPr>
          <a:xfrm>
            <a:off x="559830" y="4929500"/>
            <a:ext cx="2462801" cy="363963"/>
            <a:chOff x="389650" y="1044707"/>
            <a:chExt cx="2462801" cy="363963"/>
          </a:xfrm>
        </p:grpSpPr>
        <p:sp>
          <p:nvSpPr>
            <p:cNvPr id="77" name="Shape 160"/>
            <p:cNvSpPr/>
            <p:nvPr/>
          </p:nvSpPr>
          <p:spPr>
            <a:xfrm flipH="1">
              <a:off x="390639" y="1406359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78" name="Shape 176"/>
            <p:cNvSpPr/>
            <p:nvPr/>
          </p:nvSpPr>
          <p:spPr>
            <a:xfrm>
              <a:off x="794872" y="1122231"/>
              <a:ext cx="1171796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 algn="l">
                <a:defRPr sz="1800"/>
              </a:pP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Target </a:t>
              </a:r>
              <a:r>
                <a:rPr lang="es-CO" sz="12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W</a:t>
              </a:r>
              <a:r>
                <a:rPr lang="es-CO" sz="1200" b="1" dirty="0" err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ords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pic>
          <p:nvPicPr>
            <p:cNvPr id="79" name="Imagen 33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650" y="1044707"/>
              <a:ext cx="327600" cy="327600"/>
            </a:xfrm>
            <a:prstGeom prst="rect">
              <a:avLst/>
            </a:prstGeom>
          </p:spPr>
        </p:pic>
      </p:grpSp>
      <p:grpSp>
        <p:nvGrpSpPr>
          <p:cNvPr id="80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81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82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  <p:sp>
        <p:nvSpPr>
          <p:cNvPr id="37" name="Text Placeholder 68"/>
          <p:cNvSpPr>
            <a:spLocks noGrp="1"/>
          </p:cNvSpPr>
          <p:nvPr>
            <p:ph type="body" sz="quarter" idx="13" hasCustomPrompt="1"/>
          </p:nvPr>
        </p:nvSpPr>
        <p:spPr>
          <a:xfrm>
            <a:off x="463550" y="5537200"/>
            <a:ext cx="2882900" cy="1644650"/>
          </a:xfrm>
        </p:spPr>
        <p:txBody>
          <a:bodyPr>
            <a:noAutofit/>
          </a:bodyPr>
          <a:lstStyle>
            <a:lvl1pPr marL="88900" indent="-88900">
              <a:defRPr sz="1000" b="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word (part of speech): definition</a:t>
            </a:r>
          </a:p>
        </p:txBody>
      </p:sp>
      <p:sp>
        <p:nvSpPr>
          <p:cNvPr id="38" name="Text Placeholder 68"/>
          <p:cNvSpPr>
            <a:spLocks noGrp="1"/>
          </p:cNvSpPr>
          <p:nvPr>
            <p:ph type="body" sz="quarter" idx="14" hasCustomPrompt="1"/>
          </p:nvPr>
        </p:nvSpPr>
        <p:spPr>
          <a:xfrm>
            <a:off x="3524250" y="5537200"/>
            <a:ext cx="2978150" cy="1644650"/>
          </a:xfrm>
        </p:spPr>
        <p:txBody>
          <a:bodyPr>
            <a:noAutofit/>
          </a:bodyPr>
          <a:lstStyle>
            <a:lvl1pPr marL="88900" indent="-88900">
              <a:defRPr sz="1000" b="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word (part of speech): definition</a:t>
            </a:r>
          </a:p>
        </p:txBody>
      </p:sp>
      <p:sp>
        <p:nvSpPr>
          <p:cNvPr id="42" name="Text Placeholder 68"/>
          <p:cNvSpPr>
            <a:spLocks noGrp="1"/>
          </p:cNvSpPr>
          <p:nvPr>
            <p:ph type="body" sz="quarter" idx="16" hasCustomPrompt="1"/>
          </p:nvPr>
        </p:nvSpPr>
        <p:spPr>
          <a:xfrm>
            <a:off x="469900" y="2438400"/>
            <a:ext cx="2882900" cy="1644650"/>
          </a:xfrm>
        </p:spPr>
        <p:txBody>
          <a:bodyPr>
            <a:noAutofit/>
          </a:bodyPr>
          <a:lstStyle>
            <a:lvl1pPr marL="228600" indent="-228600" algn="l" defTabSz="685800">
              <a:lnSpc>
                <a:spcPct val="90000"/>
              </a:lnSpc>
              <a:buFont typeface="+mj-lt"/>
              <a:buAutoNum type="alphaLcParenR"/>
              <a:defRPr sz="1000" b="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marL="228600" lvl="0" indent="-228600" algn="l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  <a:b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</a:b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  <a:p>
            <a:pPr marL="228600" lvl="0" indent="-228600" algn="l" defTabSz="685800">
              <a:lnSpc>
                <a:spcPct val="90000"/>
              </a:lnSpc>
            </a:pP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  <a:p>
            <a:pPr marL="228600" lvl="0" indent="-228600" algn="l" defTabSz="685800">
              <a:lnSpc>
                <a:spcPct val="90000"/>
              </a:lnSpc>
            </a:pP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algn="l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  <a:p>
            <a:pPr lvl="0" algn="l" defTabSz="685800">
              <a:lnSpc>
                <a:spcPct val="90000"/>
              </a:lnSpc>
            </a:pP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algn="l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</p:txBody>
      </p:sp>
      <p:sp>
        <p:nvSpPr>
          <p:cNvPr id="43" name="Text Placeholder 64"/>
          <p:cNvSpPr>
            <a:spLocks noGrp="1"/>
          </p:cNvSpPr>
          <p:nvPr>
            <p:ph type="body" sz="quarter" idx="17" hasCustomPrompt="1"/>
          </p:nvPr>
        </p:nvSpPr>
        <p:spPr>
          <a:xfrm>
            <a:off x="469900" y="1555750"/>
            <a:ext cx="5226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  <p:sp>
        <p:nvSpPr>
          <p:cNvPr id="23" name="Title 14"/>
          <p:cNvSpPr>
            <a:spLocks noGrp="1"/>
          </p:cNvSpPr>
          <p:nvPr>
            <p:ph type="title" hasCustomPrompt="1"/>
          </p:nvPr>
        </p:nvSpPr>
        <p:spPr>
          <a:xfrm>
            <a:off x="1758832" y="234799"/>
            <a:ext cx="1270102" cy="217747"/>
          </a:xfrm>
        </p:spPr>
        <p:txBody>
          <a:bodyPr>
            <a:normAutofit/>
          </a:bodyPr>
          <a:lstStyle>
            <a:lvl1pPr>
              <a:defRPr sz="1200" baseline="0">
                <a:solidFill>
                  <a:srgbClr val="FFFFFF"/>
                </a:solidFill>
              </a:defRPr>
            </a:lvl1pPr>
          </a:lstStyle>
          <a:p>
            <a:r>
              <a:rPr lang="en-CA" dirty="0" smtClean="0"/>
              <a:t>Lesson Title</a:t>
            </a:r>
            <a:endParaRPr lang="en-US" dirty="0"/>
          </a:p>
        </p:txBody>
      </p:sp>
      <p:sp>
        <p:nvSpPr>
          <p:cNvPr id="26" name="Text Placeholder 64"/>
          <p:cNvSpPr>
            <a:spLocks noGrp="1"/>
          </p:cNvSpPr>
          <p:nvPr>
            <p:ph type="body" sz="quarter" idx="22" hasCustomPrompt="1"/>
          </p:nvPr>
        </p:nvSpPr>
        <p:spPr>
          <a:xfrm>
            <a:off x="469028" y="2000115"/>
            <a:ext cx="5861050" cy="412750"/>
          </a:xfrm>
        </p:spPr>
        <p:txBody>
          <a:bodyPr>
            <a:noAutofit/>
          </a:bodyPr>
          <a:lstStyle>
            <a:lvl1pPr>
              <a:buNone/>
              <a:defRPr sz="1000" i="1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Instructions:</a:t>
            </a:r>
          </a:p>
        </p:txBody>
      </p:sp>
    </p:spTree>
    <p:extLst>
      <p:ext uri="{BB962C8B-B14F-4D97-AF65-F5344CB8AC3E}">
        <p14:creationId xmlns:p14="http://schemas.microsoft.com/office/powerpoint/2010/main" val="2596481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47" name="Imagen 3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48" name="Shape 138"/>
            <p:cNvSpPr/>
            <p:nvPr/>
          </p:nvSpPr>
          <p:spPr>
            <a:xfrm>
              <a:off x="4314346" y="316856"/>
              <a:ext cx="2404004" cy="21544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At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the Clothing Store</a:t>
              </a: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lvl="0" algn="r">
                <a:defRPr sz="1800"/>
              </a:pP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56" name="Imagen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80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81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82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  <p:sp>
        <p:nvSpPr>
          <p:cNvPr id="43" name="Text Placeholder 64"/>
          <p:cNvSpPr>
            <a:spLocks noGrp="1"/>
          </p:cNvSpPr>
          <p:nvPr>
            <p:ph type="body" sz="quarter" idx="17" hasCustomPrompt="1"/>
          </p:nvPr>
        </p:nvSpPr>
        <p:spPr>
          <a:xfrm>
            <a:off x="469900" y="1555750"/>
            <a:ext cx="5226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  <p:grpSp>
        <p:nvGrpSpPr>
          <p:cNvPr id="23" name="Group 22"/>
          <p:cNvGrpSpPr/>
          <p:nvPr userDrawn="1"/>
        </p:nvGrpSpPr>
        <p:grpSpPr>
          <a:xfrm>
            <a:off x="559880" y="1044072"/>
            <a:ext cx="2461812" cy="372551"/>
            <a:chOff x="389700" y="3441761"/>
            <a:chExt cx="2461812" cy="372551"/>
          </a:xfrm>
        </p:grpSpPr>
        <p:pic>
          <p:nvPicPr>
            <p:cNvPr id="24" name="Imagen 4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6000" y="3441761"/>
              <a:ext cx="327600" cy="327600"/>
            </a:xfrm>
            <a:prstGeom prst="rect">
              <a:avLst/>
            </a:prstGeom>
          </p:spPr>
        </p:pic>
        <p:sp>
          <p:nvSpPr>
            <p:cNvPr id="25" name="Shape 176"/>
            <p:cNvSpPr/>
            <p:nvPr/>
          </p:nvSpPr>
          <p:spPr>
            <a:xfrm>
              <a:off x="786405" y="3519928"/>
              <a:ext cx="1353661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 algn="l">
                <a:defRPr sz="1800"/>
              </a:pP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Learning Points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26" name="Shape 160"/>
            <p:cNvSpPr/>
            <p:nvPr/>
          </p:nvSpPr>
          <p:spPr>
            <a:xfrm flipH="1">
              <a:off x="389700" y="3812001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27" name="Text Placeholder 64"/>
          <p:cNvSpPr>
            <a:spLocks noGrp="1"/>
          </p:cNvSpPr>
          <p:nvPr>
            <p:ph type="body" sz="quarter" idx="11" hasCustomPrompt="1"/>
          </p:nvPr>
        </p:nvSpPr>
        <p:spPr>
          <a:xfrm>
            <a:off x="469900" y="2133600"/>
            <a:ext cx="2597150" cy="609600"/>
          </a:xfrm>
        </p:spPr>
        <p:txBody>
          <a:bodyPr>
            <a:noAutofit/>
          </a:bodyPr>
          <a:lstStyle>
            <a:lvl1pPr marL="0" indent="0">
              <a:buFont typeface="Arial"/>
              <a:buNone/>
              <a:defRPr sz="100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Description</a:t>
            </a:r>
          </a:p>
        </p:txBody>
      </p:sp>
      <p:sp>
        <p:nvSpPr>
          <p:cNvPr id="17" name="Title 14"/>
          <p:cNvSpPr>
            <a:spLocks noGrp="1"/>
          </p:cNvSpPr>
          <p:nvPr>
            <p:ph type="title" hasCustomPrompt="1"/>
          </p:nvPr>
        </p:nvSpPr>
        <p:spPr>
          <a:xfrm>
            <a:off x="1758832" y="234799"/>
            <a:ext cx="1270102" cy="217747"/>
          </a:xfrm>
        </p:spPr>
        <p:txBody>
          <a:bodyPr>
            <a:normAutofit/>
          </a:bodyPr>
          <a:lstStyle>
            <a:lvl1pPr>
              <a:defRPr sz="1200" baseline="0">
                <a:solidFill>
                  <a:srgbClr val="FFFFFF"/>
                </a:solidFill>
              </a:defRPr>
            </a:lvl1pPr>
          </a:lstStyle>
          <a:p>
            <a:r>
              <a:rPr lang="en-CA" dirty="0" smtClean="0"/>
              <a:t>Lesson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523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Extension Activity &amp; Target Wo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47" name="Imagen 3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48" name="Shape 138"/>
            <p:cNvSpPr/>
            <p:nvPr/>
          </p:nvSpPr>
          <p:spPr>
            <a:xfrm>
              <a:off x="4314346" y="316856"/>
              <a:ext cx="2404004" cy="21544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At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the Clothing Store</a:t>
              </a: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lvl="0" algn="r">
                <a:defRPr sz="1800"/>
              </a:pP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56" name="Imagen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45" name="Group 8"/>
          <p:cNvGrpSpPr/>
          <p:nvPr userDrawn="1"/>
        </p:nvGrpSpPr>
        <p:grpSpPr>
          <a:xfrm>
            <a:off x="561159" y="1036723"/>
            <a:ext cx="2462329" cy="366120"/>
            <a:chOff x="389650" y="4592417"/>
            <a:chExt cx="2462329" cy="366120"/>
          </a:xfrm>
        </p:grpSpPr>
        <p:pic>
          <p:nvPicPr>
            <p:cNvPr id="54" name="Imagen 2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650" y="4592417"/>
              <a:ext cx="327600" cy="327600"/>
            </a:xfrm>
            <a:prstGeom prst="rect">
              <a:avLst/>
            </a:prstGeom>
          </p:spPr>
        </p:pic>
        <p:sp>
          <p:nvSpPr>
            <p:cNvPr id="55" name="Shape 176"/>
            <p:cNvSpPr/>
            <p:nvPr/>
          </p:nvSpPr>
          <p:spPr>
            <a:xfrm>
              <a:off x="776282" y="4668506"/>
              <a:ext cx="1615827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 algn="l">
                <a:defRPr sz="1800"/>
              </a:pP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Extension Activity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57" name="Shape 160"/>
            <p:cNvSpPr/>
            <p:nvPr/>
          </p:nvSpPr>
          <p:spPr>
            <a:xfrm flipH="1">
              <a:off x="390167" y="4956226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grpSp>
        <p:nvGrpSpPr>
          <p:cNvPr id="76" name="Group 12"/>
          <p:cNvGrpSpPr/>
          <p:nvPr userDrawn="1"/>
        </p:nvGrpSpPr>
        <p:grpSpPr>
          <a:xfrm>
            <a:off x="559830" y="4929500"/>
            <a:ext cx="2462801" cy="363963"/>
            <a:chOff x="389650" y="1044707"/>
            <a:chExt cx="2462801" cy="363963"/>
          </a:xfrm>
        </p:grpSpPr>
        <p:sp>
          <p:nvSpPr>
            <p:cNvPr id="77" name="Shape 160"/>
            <p:cNvSpPr/>
            <p:nvPr/>
          </p:nvSpPr>
          <p:spPr>
            <a:xfrm flipH="1">
              <a:off x="390639" y="1406359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78" name="Shape 176"/>
            <p:cNvSpPr/>
            <p:nvPr/>
          </p:nvSpPr>
          <p:spPr>
            <a:xfrm>
              <a:off x="794872" y="1122231"/>
              <a:ext cx="1171796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 algn="l">
                <a:defRPr sz="1800"/>
              </a:pP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Target </a:t>
              </a:r>
              <a:r>
                <a:rPr lang="es-CO" sz="12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W</a:t>
              </a:r>
              <a:r>
                <a:rPr lang="es-CO" sz="1200" b="1" dirty="0" err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ords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pic>
          <p:nvPicPr>
            <p:cNvPr id="79" name="Imagen 33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650" y="1044707"/>
              <a:ext cx="327600" cy="327600"/>
            </a:xfrm>
            <a:prstGeom prst="rect">
              <a:avLst/>
            </a:prstGeom>
          </p:spPr>
        </p:pic>
      </p:grpSp>
      <p:grpSp>
        <p:nvGrpSpPr>
          <p:cNvPr id="80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81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82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  <p:sp>
        <p:nvSpPr>
          <p:cNvPr id="37" name="Text Placeholder 68"/>
          <p:cNvSpPr>
            <a:spLocks noGrp="1"/>
          </p:cNvSpPr>
          <p:nvPr>
            <p:ph type="body" sz="quarter" idx="13" hasCustomPrompt="1"/>
          </p:nvPr>
        </p:nvSpPr>
        <p:spPr>
          <a:xfrm>
            <a:off x="463550" y="5537200"/>
            <a:ext cx="2882900" cy="1644650"/>
          </a:xfrm>
        </p:spPr>
        <p:txBody>
          <a:bodyPr>
            <a:noAutofit/>
          </a:bodyPr>
          <a:lstStyle>
            <a:lvl1pPr marL="88900" indent="-88900">
              <a:defRPr sz="1000" b="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word (part of speech): definition</a:t>
            </a:r>
          </a:p>
        </p:txBody>
      </p:sp>
      <p:sp>
        <p:nvSpPr>
          <p:cNvPr id="38" name="Text Placeholder 68"/>
          <p:cNvSpPr>
            <a:spLocks noGrp="1"/>
          </p:cNvSpPr>
          <p:nvPr>
            <p:ph type="body" sz="quarter" idx="14" hasCustomPrompt="1"/>
          </p:nvPr>
        </p:nvSpPr>
        <p:spPr>
          <a:xfrm>
            <a:off x="3524250" y="5537200"/>
            <a:ext cx="2978150" cy="1644650"/>
          </a:xfrm>
        </p:spPr>
        <p:txBody>
          <a:bodyPr>
            <a:noAutofit/>
          </a:bodyPr>
          <a:lstStyle>
            <a:lvl1pPr marL="88900" indent="-88900">
              <a:defRPr sz="1000" b="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word (part of speech): definition</a:t>
            </a:r>
          </a:p>
        </p:txBody>
      </p:sp>
      <p:sp>
        <p:nvSpPr>
          <p:cNvPr id="42" name="Text Placeholder 68"/>
          <p:cNvSpPr>
            <a:spLocks noGrp="1"/>
          </p:cNvSpPr>
          <p:nvPr>
            <p:ph type="body" sz="quarter" idx="16" hasCustomPrompt="1"/>
          </p:nvPr>
        </p:nvSpPr>
        <p:spPr>
          <a:xfrm>
            <a:off x="469900" y="2438400"/>
            <a:ext cx="2882900" cy="1644650"/>
          </a:xfrm>
        </p:spPr>
        <p:txBody>
          <a:bodyPr>
            <a:noAutofit/>
          </a:bodyPr>
          <a:lstStyle>
            <a:lvl1pPr marL="228600" indent="-228600" algn="l" defTabSz="685800">
              <a:lnSpc>
                <a:spcPct val="90000"/>
              </a:lnSpc>
              <a:buFont typeface="+mj-lt"/>
              <a:buAutoNum type="alphaLcParenR"/>
              <a:defRPr sz="1000" b="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marL="228600" lvl="0" indent="-228600" algn="l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  <a:b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</a:b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  <a:p>
            <a:pPr marL="228600" lvl="0" indent="-228600" algn="l" defTabSz="685800">
              <a:lnSpc>
                <a:spcPct val="90000"/>
              </a:lnSpc>
            </a:pP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  <a:p>
            <a:pPr marL="228600" lvl="0" indent="-228600" algn="l" defTabSz="685800">
              <a:lnSpc>
                <a:spcPct val="90000"/>
              </a:lnSpc>
            </a:pP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algn="l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  <a:p>
            <a:pPr lvl="0" algn="l" defTabSz="685800">
              <a:lnSpc>
                <a:spcPct val="90000"/>
              </a:lnSpc>
            </a:pP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algn="l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</p:txBody>
      </p:sp>
      <p:sp>
        <p:nvSpPr>
          <p:cNvPr id="43" name="Text Placeholder 64"/>
          <p:cNvSpPr>
            <a:spLocks noGrp="1"/>
          </p:cNvSpPr>
          <p:nvPr>
            <p:ph type="body" sz="quarter" idx="17" hasCustomPrompt="1"/>
          </p:nvPr>
        </p:nvSpPr>
        <p:spPr>
          <a:xfrm>
            <a:off x="469900" y="1555750"/>
            <a:ext cx="5226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  <p:sp>
        <p:nvSpPr>
          <p:cNvPr id="23" name="Title 14"/>
          <p:cNvSpPr>
            <a:spLocks noGrp="1"/>
          </p:cNvSpPr>
          <p:nvPr>
            <p:ph type="title" hasCustomPrompt="1"/>
          </p:nvPr>
        </p:nvSpPr>
        <p:spPr>
          <a:xfrm>
            <a:off x="1758832" y="234799"/>
            <a:ext cx="1270102" cy="217747"/>
          </a:xfrm>
        </p:spPr>
        <p:txBody>
          <a:bodyPr>
            <a:normAutofit/>
          </a:bodyPr>
          <a:lstStyle>
            <a:lvl1pPr>
              <a:defRPr sz="1200" baseline="0">
                <a:solidFill>
                  <a:srgbClr val="FFFFFF"/>
                </a:solidFill>
              </a:defRPr>
            </a:lvl1pPr>
          </a:lstStyle>
          <a:p>
            <a:r>
              <a:rPr lang="en-CA" dirty="0" smtClean="0"/>
              <a:t>Lesson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918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78E352-EA88-40AF-8669-23AE5A543FD4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1" r:id="rId4"/>
    <p:sldLayoutId id="2147483654" r:id="rId5"/>
    <p:sldLayoutId id="2147483655" r:id="rId6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Accurately use information about people, their likes and dislikes, homes or countries in communicative situations.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Do you like shopping?</a:t>
            </a:r>
          </a:p>
          <a:p>
            <a:r>
              <a:rPr lang="en-US" dirty="0"/>
              <a:t>Why or why not?</a:t>
            </a:r>
          </a:p>
          <a:p>
            <a:r>
              <a:rPr lang="en-US" dirty="0"/>
              <a:t>Does everyone love shopping? Why or why not?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 can talk about different types of stores.</a:t>
            </a:r>
          </a:p>
          <a:p>
            <a:r>
              <a:rPr lang="en-US" dirty="0"/>
              <a:t>I can talk about clothing and accessories.</a:t>
            </a:r>
          </a:p>
          <a:p>
            <a:r>
              <a:rPr lang="en-US" dirty="0"/>
              <a:t>I can ask and say what people are doing.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Many people love to shop in their free time. Do you?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694745" y="256696"/>
            <a:ext cx="2474389" cy="179539"/>
          </a:xfrm>
        </p:spPr>
        <p:txBody>
          <a:bodyPr>
            <a:noAutofit/>
          </a:bodyPr>
          <a:lstStyle/>
          <a:p>
            <a:r>
              <a:rPr lang="en-US" dirty="0" smtClean="0"/>
              <a:t>Everyone Loves Shopping</a:t>
            </a:r>
            <a:endParaRPr lang="en-US" dirty="0"/>
          </a:p>
        </p:txBody>
      </p:sp>
      <p:pic>
        <p:nvPicPr>
          <p:cNvPr id="9" name="Picture Placeholder 8" descr="DR1.jpg"/>
          <p:cNvPicPr>
            <a:picLocks noGrp="1" noChangeAspect="1"/>
          </p:cNvPicPr>
          <p:nvPr>
            <p:ph type="pic" sz="quarter" idx="1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9033" b="-19033"/>
          <a:stretch>
            <a:fillRect/>
          </a:stretch>
        </p:blipFill>
        <p:spPr>
          <a:xfrm>
            <a:off x="952500" y="3568699"/>
            <a:ext cx="5181600" cy="3033131"/>
          </a:xfrm>
        </p:spPr>
      </p:pic>
    </p:spTree>
    <p:extLst>
      <p:ext uri="{BB962C8B-B14F-4D97-AF65-F5344CB8AC3E}">
        <p14:creationId xmlns:p14="http://schemas.microsoft.com/office/powerpoint/2010/main" val="3128175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476250" y="5048250"/>
            <a:ext cx="5842000" cy="3435350"/>
          </a:xfrm>
        </p:spPr>
        <p:txBody>
          <a:bodyPr/>
          <a:lstStyle/>
          <a:p>
            <a:r>
              <a:rPr lang="en-US" b="1" dirty="0" smtClean="0"/>
              <a:t>Sally:          </a:t>
            </a:r>
            <a:r>
              <a:rPr lang="en-US" dirty="0" smtClean="0"/>
              <a:t>Hi </a:t>
            </a:r>
            <a:r>
              <a:rPr lang="en-US" dirty="0"/>
              <a:t>John! I’m going shopping at the new outlet mall.</a:t>
            </a:r>
          </a:p>
          <a:p>
            <a:r>
              <a:rPr lang="en-US" b="1" dirty="0"/>
              <a:t>John:  </a:t>
            </a:r>
            <a:r>
              <a:rPr lang="en-US" b="1" dirty="0" smtClean="0"/>
              <a:t>        </a:t>
            </a:r>
            <a:r>
              <a:rPr lang="en-US" dirty="0" smtClean="0"/>
              <a:t>Shopping</a:t>
            </a:r>
            <a:r>
              <a:rPr lang="en-US" dirty="0"/>
              <a:t>? Again?</a:t>
            </a:r>
          </a:p>
          <a:p>
            <a:r>
              <a:rPr lang="en-US" b="1" dirty="0"/>
              <a:t>Sally:  </a:t>
            </a:r>
            <a:r>
              <a:rPr lang="en-US" b="1" dirty="0" smtClean="0"/>
              <a:t>        </a:t>
            </a:r>
            <a:r>
              <a:rPr lang="en-US" dirty="0" smtClean="0"/>
              <a:t>Yes</a:t>
            </a:r>
            <a:r>
              <a:rPr lang="en-US" dirty="0"/>
              <a:t>! I love shopping. I want to get some new clothes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John:  </a:t>
            </a:r>
            <a:r>
              <a:rPr lang="en-US" b="1" dirty="0" smtClean="0"/>
              <a:t>        </a:t>
            </a:r>
            <a:r>
              <a:rPr lang="en-US" dirty="0" smtClean="0"/>
              <a:t>What </a:t>
            </a:r>
            <a:r>
              <a:rPr lang="en-US" dirty="0"/>
              <a:t>stores does the mall have?</a:t>
            </a:r>
          </a:p>
          <a:p>
            <a:r>
              <a:rPr lang="en-US" b="1" dirty="0"/>
              <a:t>Sally:  </a:t>
            </a:r>
            <a:r>
              <a:rPr lang="en-US" b="1" dirty="0" smtClean="0"/>
              <a:t>        </a:t>
            </a:r>
            <a:r>
              <a:rPr lang="en-US" dirty="0" smtClean="0"/>
              <a:t>Oh</a:t>
            </a:r>
            <a:r>
              <a:rPr lang="en-US" dirty="0"/>
              <a:t>, there are lots of stores. Clothing and accessories, shoes, sports</a:t>
            </a:r>
            <a:r>
              <a:rPr lang="en-US" dirty="0" smtClean="0"/>
              <a:t>…</a:t>
            </a:r>
          </a:p>
          <a:p>
            <a:endParaRPr lang="en-US" dirty="0"/>
          </a:p>
          <a:p>
            <a:r>
              <a:rPr lang="en-US" b="1" dirty="0"/>
              <a:t>John:  </a:t>
            </a:r>
            <a:r>
              <a:rPr lang="en-US" b="1" dirty="0" smtClean="0"/>
              <a:t>        </a:t>
            </a:r>
            <a:r>
              <a:rPr lang="en-US" dirty="0" smtClean="0"/>
              <a:t>Is </a:t>
            </a:r>
            <a:r>
              <a:rPr lang="en-US" dirty="0"/>
              <a:t>there a hardware store or a pharmacy?</a:t>
            </a:r>
          </a:p>
          <a:p>
            <a:r>
              <a:rPr lang="en-US" b="1" dirty="0"/>
              <a:t>Sally:  </a:t>
            </a:r>
            <a:r>
              <a:rPr lang="en-US" b="1" dirty="0" smtClean="0"/>
              <a:t>        </a:t>
            </a:r>
            <a:r>
              <a:rPr lang="en-US" dirty="0" smtClean="0"/>
              <a:t>No</a:t>
            </a:r>
            <a:r>
              <a:rPr lang="en-US" dirty="0"/>
              <a:t>! Want to come?</a:t>
            </a:r>
          </a:p>
          <a:p>
            <a:r>
              <a:rPr lang="en-US" b="1" dirty="0"/>
              <a:t>John:  </a:t>
            </a:r>
            <a:r>
              <a:rPr lang="en-US" b="1" dirty="0" smtClean="0"/>
              <a:t>        </a:t>
            </a:r>
            <a:r>
              <a:rPr lang="en-US" dirty="0" smtClean="0"/>
              <a:t>Sure</a:t>
            </a:r>
            <a:r>
              <a:rPr lang="en-US" dirty="0"/>
              <a:t>…. I guess..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John:  </a:t>
            </a:r>
            <a:r>
              <a:rPr lang="en-US" b="1" dirty="0" smtClean="0"/>
              <a:t>        </a:t>
            </a:r>
            <a:r>
              <a:rPr lang="en-US" dirty="0" smtClean="0"/>
              <a:t>This </a:t>
            </a:r>
            <a:r>
              <a:rPr lang="en-US" dirty="0"/>
              <a:t>is a nice store. I’m finding nice things in this casual wear </a:t>
            </a:r>
            <a:r>
              <a:rPr lang="en-US" dirty="0" smtClean="0"/>
              <a:t>department</a:t>
            </a:r>
            <a:r>
              <a:rPr lang="en-US" dirty="0"/>
              <a:t>.</a:t>
            </a:r>
          </a:p>
          <a:p>
            <a:r>
              <a:rPr lang="en-US" b="1" dirty="0"/>
              <a:t>Sally:  </a:t>
            </a:r>
            <a:r>
              <a:rPr lang="en-US" b="1" dirty="0" smtClean="0"/>
              <a:t>        </a:t>
            </a:r>
            <a:r>
              <a:rPr lang="en-US" dirty="0" smtClean="0"/>
              <a:t>Do </a:t>
            </a:r>
            <a:r>
              <a:rPr lang="en-US" dirty="0"/>
              <a:t>you like these jeans</a:t>
            </a:r>
            <a:r>
              <a:rPr lang="en-US" dirty="0" smtClean="0"/>
              <a:t>?</a:t>
            </a:r>
          </a:p>
          <a:p>
            <a:endParaRPr lang="en-US" dirty="0"/>
          </a:p>
          <a:p>
            <a:r>
              <a:rPr lang="en-US" b="1" dirty="0"/>
              <a:t>John:  </a:t>
            </a:r>
            <a:r>
              <a:rPr lang="en-US" b="1" dirty="0" smtClean="0"/>
              <a:t>        </a:t>
            </a:r>
            <a:r>
              <a:rPr lang="en-US" dirty="0" smtClean="0"/>
              <a:t>They’re </a:t>
            </a:r>
            <a:r>
              <a:rPr lang="en-US" dirty="0"/>
              <a:t>ok. Are you trying them on?</a:t>
            </a:r>
          </a:p>
          <a:p>
            <a:r>
              <a:rPr lang="en-US" b="1" dirty="0"/>
              <a:t>Sally:  </a:t>
            </a:r>
            <a:r>
              <a:rPr lang="en-US" b="1" dirty="0" smtClean="0"/>
              <a:t>        </a:t>
            </a:r>
            <a:r>
              <a:rPr lang="en-US" dirty="0" smtClean="0"/>
              <a:t>Yes</a:t>
            </a:r>
            <a:r>
              <a:rPr lang="en-US" dirty="0"/>
              <a:t>. I’m trying them on with this T-shirt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John:  </a:t>
            </a:r>
            <a:r>
              <a:rPr lang="en-US" b="1" dirty="0" smtClean="0"/>
              <a:t>        </a:t>
            </a:r>
            <a:r>
              <a:rPr lang="en-US" dirty="0" smtClean="0"/>
              <a:t>I’m </a:t>
            </a:r>
            <a:r>
              <a:rPr lang="en-US" dirty="0"/>
              <a:t>trying on this sweatshirt.</a:t>
            </a:r>
          </a:p>
          <a:p>
            <a:r>
              <a:rPr lang="en-US" b="1" dirty="0"/>
              <a:t>Sally:  </a:t>
            </a:r>
            <a:r>
              <a:rPr lang="en-US" b="1" dirty="0" smtClean="0"/>
              <a:t>        </a:t>
            </a:r>
            <a:r>
              <a:rPr lang="en-US" dirty="0" smtClean="0"/>
              <a:t>Why </a:t>
            </a:r>
            <a:r>
              <a:rPr lang="en-US" dirty="0"/>
              <a:t>don’t you try this hoodie? Excuse me, can I try these leather </a:t>
            </a:r>
            <a:r>
              <a:rPr lang="en-US" dirty="0" smtClean="0"/>
              <a:t>boots</a:t>
            </a:r>
            <a:r>
              <a:rPr lang="en-US" dirty="0"/>
              <a:t>?</a:t>
            </a:r>
          </a:p>
          <a:p>
            <a:r>
              <a:rPr lang="en-US" b="1" dirty="0"/>
              <a:t>Clerk:  </a:t>
            </a:r>
            <a:r>
              <a:rPr lang="en-US" b="1" dirty="0" smtClean="0"/>
              <a:t>        </a:t>
            </a:r>
            <a:r>
              <a:rPr lang="en-US" dirty="0" smtClean="0"/>
              <a:t>Sure</a:t>
            </a:r>
            <a:r>
              <a:rPr lang="en-US" dirty="0"/>
              <a:t>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/>
            <a:r>
              <a:rPr lang="en-US" b="1" dirty="0"/>
              <a:t>Vanessa and Peter decide to buy a new </a:t>
            </a:r>
            <a:r>
              <a:rPr lang="en-US" b="1" dirty="0" smtClean="0"/>
              <a:t>coat for Peter at a shopping center. What does the salesperson recommend? </a:t>
            </a:r>
            <a:endParaRPr lang="en-US" b="1" dirty="0"/>
          </a:p>
        </p:txBody>
      </p:sp>
      <p:sp>
        <p:nvSpPr>
          <p:cNvPr id="6" name="Title 6"/>
          <p:cNvSpPr txBox="1">
            <a:spLocks/>
          </p:cNvSpPr>
          <p:nvPr/>
        </p:nvSpPr>
        <p:spPr>
          <a:xfrm>
            <a:off x="1676266" y="243840"/>
            <a:ext cx="2499494" cy="2131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1200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Everyone Loves Shopping</a:t>
            </a:r>
            <a:endParaRPr lang="en-US" dirty="0"/>
          </a:p>
        </p:txBody>
      </p:sp>
      <p:pic>
        <p:nvPicPr>
          <p:cNvPr id="7" name="Picture Placeholder 6" descr="DR2.jpg"/>
          <p:cNvPicPr>
            <a:picLocks noGrp="1" noChangeAspect="1"/>
          </p:cNvPicPr>
          <p:nvPr>
            <p:ph type="pic" sz="quarter" idx="1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7138" r="-37138"/>
          <a:stretch>
            <a:fillRect/>
          </a:stretch>
        </p:blipFill>
        <p:spPr>
          <a:xfrm>
            <a:off x="1244600" y="2159000"/>
            <a:ext cx="4382558" cy="2565400"/>
          </a:xfrm>
        </p:spPr>
      </p:pic>
    </p:spTree>
    <p:extLst>
      <p:ext uri="{BB962C8B-B14F-4D97-AF65-F5344CB8AC3E}">
        <p14:creationId xmlns:p14="http://schemas.microsoft.com/office/powerpoint/2010/main" val="619151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21"/>
          </p:nvPr>
        </p:nvSpPr>
        <p:spPr>
          <a:xfrm>
            <a:off x="370840" y="1525270"/>
            <a:ext cx="5861050" cy="412750"/>
          </a:xfrm>
        </p:spPr>
        <p:txBody>
          <a:bodyPr/>
          <a:lstStyle/>
          <a:p>
            <a:r>
              <a:rPr lang="en-US" dirty="0" smtClean="0"/>
              <a:t>What can you buy in a *pharmacy? Let’s review types of stores. 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3"/>
          </p:nvPr>
        </p:nvSpPr>
        <p:spPr>
          <a:xfrm>
            <a:off x="427837" y="2323062"/>
            <a:ext cx="5861050" cy="412750"/>
          </a:xfrm>
        </p:spPr>
        <p:txBody>
          <a:bodyPr/>
          <a:lstStyle/>
          <a:p>
            <a:r>
              <a:rPr lang="en-US" dirty="0" smtClean="0"/>
              <a:t>Instructions: Match the store on the left with the items you can buy there on the right.</a:t>
            </a:r>
            <a:endParaRPr lang="en-US" dirty="0"/>
          </a:p>
        </p:txBody>
      </p:sp>
      <p:sp>
        <p:nvSpPr>
          <p:cNvPr id="7" name="Title 6"/>
          <p:cNvSpPr txBox="1">
            <a:spLocks/>
          </p:cNvSpPr>
          <p:nvPr/>
        </p:nvSpPr>
        <p:spPr>
          <a:xfrm>
            <a:off x="1676266" y="243840"/>
            <a:ext cx="2499494" cy="2131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1200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Everyone Loves Shopping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621280" y="1849120"/>
            <a:ext cx="40030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/>
              <a:t>*In some countries, you can buy many things in a pharmacy, like food, medication or cleaning supplies.</a:t>
            </a:r>
            <a:endParaRPr lang="en-US" sz="1100" dirty="0"/>
          </a:p>
        </p:txBody>
      </p:sp>
      <p:sp>
        <p:nvSpPr>
          <p:cNvPr id="9" name="TextBox 8"/>
          <p:cNvSpPr txBox="1"/>
          <p:nvPr/>
        </p:nvSpPr>
        <p:spPr>
          <a:xfrm>
            <a:off x="698500" y="2641601"/>
            <a:ext cx="5273040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smtClean="0"/>
              <a:t>Store			Things you can buy</a:t>
            </a:r>
            <a:br>
              <a:rPr lang="en-US" sz="1100" b="1" dirty="0" smtClean="0"/>
            </a:br>
            <a:endParaRPr lang="en-US" sz="1100" b="1" dirty="0" smtClean="0"/>
          </a:p>
          <a:p>
            <a:r>
              <a:rPr lang="en-US" sz="1100" dirty="0" smtClean="0"/>
              <a:t>Hardware store		furniture, clothes, shoes</a:t>
            </a:r>
          </a:p>
          <a:p>
            <a:endParaRPr lang="en-US" sz="1100" dirty="0" smtClean="0"/>
          </a:p>
          <a:p>
            <a:r>
              <a:rPr lang="en-US" sz="1100" dirty="0" smtClean="0"/>
              <a:t>Convenience store      		items from the manufacturer</a:t>
            </a:r>
          </a:p>
          <a:p>
            <a:endParaRPr lang="en-US" sz="1100" dirty="0" smtClean="0"/>
          </a:p>
          <a:p>
            <a:r>
              <a:rPr lang="en-US" sz="1100" dirty="0" smtClean="0"/>
              <a:t>Outlet store			medication</a:t>
            </a:r>
          </a:p>
          <a:p>
            <a:endParaRPr lang="en-US" sz="1100" dirty="0" smtClean="0"/>
          </a:p>
          <a:p>
            <a:r>
              <a:rPr lang="en-US" sz="1100" dirty="0" smtClean="0"/>
              <a:t>Department store		cleaning supplies, tools, nails</a:t>
            </a:r>
          </a:p>
          <a:p>
            <a:endParaRPr lang="en-US" sz="1100" dirty="0" smtClean="0"/>
          </a:p>
          <a:p>
            <a:r>
              <a:rPr lang="en-US" sz="1100" dirty="0" smtClean="0"/>
              <a:t>Pharmacy             		milk, bread, candy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4020" y="5117882"/>
            <a:ext cx="5862320" cy="2970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/>
              <a:t>John *is finding nice things in the store.  Let’s practice speaking!</a:t>
            </a:r>
          </a:p>
          <a:p>
            <a:endParaRPr lang="en-US" sz="1100" dirty="0" smtClean="0"/>
          </a:p>
          <a:p>
            <a:endParaRPr lang="en-US" sz="1100" dirty="0"/>
          </a:p>
          <a:p>
            <a:endParaRPr lang="en-US" sz="1100" dirty="0" smtClean="0"/>
          </a:p>
          <a:p>
            <a:endParaRPr lang="en-US" sz="1100" dirty="0" smtClean="0"/>
          </a:p>
          <a:p>
            <a:endParaRPr lang="en-US" sz="1100" dirty="0"/>
          </a:p>
          <a:p>
            <a:r>
              <a:rPr lang="en-US" sz="1100" i="1" dirty="0" smtClean="0"/>
              <a:t>Instructions: Read the sentences aloud.</a:t>
            </a:r>
          </a:p>
          <a:p>
            <a:endParaRPr lang="en-US" sz="1100" dirty="0" smtClean="0"/>
          </a:p>
          <a:p>
            <a:endParaRPr lang="en-US" sz="1100" dirty="0" smtClean="0"/>
          </a:p>
          <a:p>
            <a:r>
              <a:rPr lang="en-US" sz="1100" dirty="0" smtClean="0"/>
              <a:t>	1. I’m going shopping at the new outlet mall.</a:t>
            </a:r>
          </a:p>
          <a:p>
            <a:r>
              <a:rPr lang="en-US" sz="1100" dirty="0" smtClean="0"/>
              <a:t>	2. I’m finding a lot of nice things in this casual wear department.</a:t>
            </a:r>
          </a:p>
          <a:p>
            <a:r>
              <a:rPr lang="en-US" sz="1100" dirty="0" smtClean="0"/>
              <a:t>	3. I’m trying them on with this T-shirt.</a:t>
            </a:r>
          </a:p>
          <a:p>
            <a:r>
              <a:rPr lang="en-US" sz="1100" dirty="0" smtClean="0"/>
              <a:t>	4. I’m trying on this sweatshirt.</a:t>
            </a:r>
          </a:p>
          <a:p>
            <a:endParaRPr lang="en-US" sz="1100" dirty="0"/>
          </a:p>
          <a:p>
            <a:endParaRPr lang="en-US" sz="1100" dirty="0" smtClean="0"/>
          </a:p>
          <a:p>
            <a:endParaRPr lang="en-US" sz="1100" dirty="0"/>
          </a:p>
          <a:p>
            <a:endParaRPr lang="en-US" sz="1100" dirty="0"/>
          </a:p>
        </p:txBody>
      </p:sp>
      <p:sp>
        <p:nvSpPr>
          <p:cNvPr id="11" name="TextBox 10"/>
          <p:cNvSpPr txBox="1"/>
          <p:nvPr/>
        </p:nvSpPr>
        <p:spPr>
          <a:xfrm>
            <a:off x="3145674" y="5481320"/>
            <a:ext cx="336942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smtClean="0"/>
              <a:t>*To “find” something when you are shopping </a:t>
            </a:r>
          </a:p>
          <a:p>
            <a:r>
              <a:rPr lang="en-US" sz="1100" dirty="0" smtClean="0"/>
              <a:t>means you see something you want to buy.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291501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398153" y="5439794"/>
            <a:ext cx="2882900" cy="4019165"/>
          </a:xfrm>
        </p:spPr>
        <p:txBody>
          <a:bodyPr/>
          <a:lstStyle/>
          <a:p>
            <a:r>
              <a:rPr lang="en-US" b="1" dirty="0"/>
              <a:t>jeans </a:t>
            </a:r>
            <a:r>
              <a:rPr lang="en-US" dirty="0"/>
              <a:t>(noun</a:t>
            </a:r>
            <a:r>
              <a:rPr lang="en-US" dirty="0" smtClean="0"/>
              <a:t>): very </a:t>
            </a:r>
            <a:r>
              <a:rPr lang="en-US" dirty="0"/>
              <a:t>popular pants made of </a:t>
            </a:r>
            <a:r>
              <a:rPr lang="en-US" dirty="0" smtClean="0"/>
              <a:t>denim</a:t>
            </a:r>
            <a:br>
              <a:rPr lang="en-US" dirty="0" smtClean="0"/>
            </a:br>
            <a:r>
              <a:rPr lang="en-US" dirty="0" smtClean="0"/>
              <a:t>e.g. </a:t>
            </a:r>
            <a:r>
              <a:rPr lang="en-US" dirty="0"/>
              <a:t>Do you like these jeans</a:t>
            </a:r>
            <a:r>
              <a:rPr lang="en-US" dirty="0" smtClean="0"/>
              <a:t>?</a:t>
            </a:r>
            <a:endParaRPr lang="en-US" dirty="0"/>
          </a:p>
          <a:p>
            <a:r>
              <a:rPr lang="en-US" b="1" dirty="0" smtClean="0"/>
              <a:t>t</a:t>
            </a:r>
            <a:r>
              <a:rPr lang="en-US" b="1" dirty="0"/>
              <a:t>-shirt </a:t>
            </a:r>
            <a:r>
              <a:rPr lang="en-US" dirty="0"/>
              <a:t>(noun</a:t>
            </a:r>
            <a:r>
              <a:rPr lang="en-US" dirty="0" smtClean="0"/>
              <a:t>): a </a:t>
            </a:r>
            <a:r>
              <a:rPr lang="en-US" dirty="0"/>
              <a:t>shirt shaped like a T, with short </a:t>
            </a:r>
            <a:r>
              <a:rPr lang="en-US" dirty="0" smtClean="0"/>
              <a:t>sleeves </a:t>
            </a:r>
            <a:br>
              <a:rPr lang="en-US" dirty="0" smtClean="0"/>
            </a:br>
            <a:r>
              <a:rPr lang="en-US" dirty="0" smtClean="0"/>
              <a:t>e.g. </a:t>
            </a:r>
            <a:r>
              <a:rPr lang="en-US" dirty="0"/>
              <a:t>I’m going to try on this T-shirt with those jeans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b="1" dirty="0" smtClean="0"/>
              <a:t>casual </a:t>
            </a:r>
            <a:r>
              <a:rPr lang="en-US" b="1" dirty="0"/>
              <a:t>wear </a:t>
            </a:r>
            <a:r>
              <a:rPr lang="en-US" dirty="0"/>
              <a:t>(</a:t>
            </a:r>
            <a:r>
              <a:rPr lang="en-US" dirty="0" smtClean="0"/>
              <a:t>noun): clothing </a:t>
            </a:r>
            <a:r>
              <a:rPr lang="en-US" dirty="0"/>
              <a:t>for sports or recreation, not for </a:t>
            </a:r>
            <a:r>
              <a:rPr lang="en-US" dirty="0" smtClean="0"/>
              <a:t>work </a:t>
            </a:r>
            <a:br>
              <a:rPr lang="en-US" dirty="0" smtClean="0"/>
            </a:br>
            <a:r>
              <a:rPr lang="en-US" dirty="0" smtClean="0"/>
              <a:t>e.g. </a:t>
            </a:r>
            <a:r>
              <a:rPr lang="en-US" dirty="0"/>
              <a:t>This store has a good casual wear department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b="1" dirty="0" smtClean="0"/>
              <a:t>boots </a:t>
            </a:r>
            <a:r>
              <a:rPr lang="en-US" dirty="0"/>
              <a:t>(noun</a:t>
            </a:r>
            <a:r>
              <a:rPr lang="en-US" dirty="0" smtClean="0"/>
              <a:t>): protection </a:t>
            </a:r>
            <a:r>
              <a:rPr lang="en-US" dirty="0"/>
              <a:t>for the feet for outdoor </a:t>
            </a:r>
            <a:r>
              <a:rPr lang="en-US" dirty="0" smtClean="0"/>
              <a:t>use</a:t>
            </a:r>
            <a:br>
              <a:rPr lang="en-US" dirty="0" smtClean="0"/>
            </a:br>
            <a:r>
              <a:rPr lang="en-US" dirty="0" smtClean="0"/>
              <a:t>e.g. </a:t>
            </a:r>
            <a:r>
              <a:rPr lang="en-US" dirty="0"/>
              <a:t>Do you like these boots</a:t>
            </a:r>
            <a:r>
              <a:rPr lang="en-US" dirty="0" smtClean="0"/>
              <a:t>?</a:t>
            </a:r>
            <a:endParaRPr lang="en-US" dirty="0"/>
          </a:p>
          <a:p>
            <a:r>
              <a:rPr lang="en-US" b="1" dirty="0" smtClean="0"/>
              <a:t>leather</a:t>
            </a:r>
            <a:r>
              <a:rPr lang="en-US" dirty="0" smtClean="0"/>
              <a:t> </a:t>
            </a:r>
            <a:r>
              <a:rPr lang="en-US" dirty="0"/>
              <a:t>(noun</a:t>
            </a:r>
            <a:r>
              <a:rPr lang="en-US" dirty="0" smtClean="0"/>
              <a:t>): material </a:t>
            </a:r>
            <a:r>
              <a:rPr lang="en-US" dirty="0"/>
              <a:t>originally from animals, used to make boots and </a:t>
            </a:r>
            <a:r>
              <a:rPr lang="en-US" dirty="0" smtClean="0"/>
              <a:t>coats</a:t>
            </a:r>
            <a:br>
              <a:rPr lang="en-US" dirty="0" smtClean="0"/>
            </a:br>
            <a:r>
              <a:rPr lang="en-US" dirty="0" smtClean="0"/>
              <a:t>e.g. </a:t>
            </a:r>
            <a:r>
              <a:rPr lang="en-US" dirty="0"/>
              <a:t>These boots are made of leather.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3509653" y="5439794"/>
            <a:ext cx="2978150" cy="3704205"/>
          </a:xfrm>
        </p:spPr>
        <p:txBody>
          <a:bodyPr/>
          <a:lstStyle/>
          <a:p>
            <a:r>
              <a:rPr lang="en-US" b="1" dirty="0" smtClean="0"/>
              <a:t>sweatshirt </a:t>
            </a:r>
            <a:r>
              <a:rPr lang="en-US" dirty="0"/>
              <a:t>(noun</a:t>
            </a:r>
            <a:r>
              <a:rPr lang="en-US" dirty="0" smtClean="0"/>
              <a:t>): clothing </a:t>
            </a:r>
            <a:r>
              <a:rPr lang="en-US" dirty="0"/>
              <a:t>for the upper body, often for </a:t>
            </a:r>
            <a:r>
              <a:rPr lang="en-US" dirty="0" smtClean="0"/>
              <a:t>sports</a:t>
            </a:r>
            <a:br>
              <a:rPr lang="en-US" dirty="0" smtClean="0"/>
            </a:br>
            <a:r>
              <a:rPr lang="en-US" dirty="0" smtClean="0"/>
              <a:t>e.g. </a:t>
            </a:r>
            <a:r>
              <a:rPr lang="en-US" dirty="0"/>
              <a:t>I’m going to try on this sweatshirt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b="1" dirty="0" smtClean="0"/>
              <a:t>hoodie</a:t>
            </a:r>
            <a:r>
              <a:rPr lang="en-US" dirty="0" smtClean="0"/>
              <a:t> </a:t>
            </a:r>
            <a:r>
              <a:rPr lang="en-US" dirty="0"/>
              <a:t>(noun</a:t>
            </a:r>
            <a:r>
              <a:rPr lang="en-US" dirty="0" smtClean="0"/>
              <a:t>): a </a:t>
            </a:r>
            <a:r>
              <a:rPr lang="en-US" dirty="0"/>
              <a:t>sweatshirt with a hood to cover the </a:t>
            </a:r>
            <a:r>
              <a:rPr lang="en-US" dirty="0" smtClean="0"/>
              <a:t>head </a:t>
            </a:r>
            <a:br>
              <a:rPr lang="en-US" dirty="0" smtClean="0"/>
            </a:br>
            <a:r>
              <a:rPr lang="en-US" dirty="0" smtClean="0"/>
              <a:t>e.g. </a:t>
            </a:r>
            <a:r>
              <a:rPr lang="en-US" dirty="0"/>
              <a:t>Try this hoodie. It has a hood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b="1" dirty="0" smtClean="0"/>
              <a:t>outlet</a:t>
            </a:r>
            <a:r>
              <a:rPr lang="en-US" dirty="0" smtClean="0"/>
              <a:t> </a:t>
            </a:r>
            <a:r>
              <a:rPr lang="en-US" dirty="0"/>
              <a:t>(noun</a:t>
            </a:r>
            <a:r>
              <a:rPr lang="en-US" dirty="0" smtClean="0"/>
              <a:t>): a </a:t>
            </a:r>
            <a:r>
              <a:rPr lang="en-US" dirty="0"/>
              <a:t>store that sells goods directly from the </a:t>
            </a:r>
            <a:r>
              <a:rPr lang="en-US" dirty="0" smtClean="0"/>
              <a:t>manufacturer</a:t>
            </a:r>
            <a:br>
              <a:rPr lang="en-US" dirty="0" smtClean="0"/>
            </a:br>
            <a:r>
              <a:rPr lang="en-US" dirty="0" smtClean="0"/>
              <a:t>e.g. </a:t>
            </a:r>
            <a:r>
              <a:rPr lang="en-US" dirty="0"/>
              <a:t>I’m going shopping at the new outlet store this </a:t>
            </a:r>
            <a:r>
              <a:rPr lang="en-US" dirty="0" smtClean="0"/>
              <a:t>afternoon.</a:t>
            </a:r>
          </a:p>
          <a:p>
            <a:r>
              <a:rPr lang="en-US" b="1" dirty="0" smtClean="0"/>
              <a:t>mall</a:t>
            </a:r>
            <a:r>
              <a:rPr lang="en-US" dirty="0" smtClean="0"/>
              <a:t> </a:t>
            </a:r>
            <a:r>
              <a:rPr lang="en-US" dirty="0"/>
              <a:t>(noun</a:t>
            </a:r>
            <a:r>
              <a:rPr lang="en-US" dirty="0" smtClean="0"/>
              <a:t>): a </a:t>
            </a:r>
            <a:r>
              <a:rPr lang="en-US" dirty="0"/>
              <a:t>building with many </a:t>
            </a:r>
            <a:r>
              <a:rPr lang="en-US" dirty="0" smtClean="0"/>
              <a:t>stores</a:t>
            </a:r>
            <a:br>
              <a:rPr lang="en-US" dirty="0" smtClean="0"/>
            </a:br>
            <a:r>
              <a:rPr lang="en-US" dirty="0" smtClean="0"/>
              <a:t>e.g. </a:t>
            </a:r>
            <a:r>
              <a:rPr lang="en-US" dirty="0"/>
              <a:t>I love the new mall</a:t>
            </a:r>
            <a:r>
              <a:rPr lang="en-US" dirty="0" smtClean="0"/>
              <a:t>!</a:t>
            </a:r>
            <a:endParaRPr lang="en-US" dirty="0"/>
          </a:p>
          <a:p>
            <a:r>
              <a:rPr lang="en-US" b="1" dirty="0" smtClean="0"/>
              <a:t>store </a:t>
            </a:r>
            <a:r>
              <a:rPr lang="en-US" dirty="0"/>
              <a:t>(noun</a:t>
            </a:r>
            <a:r>
              <a:rPr lang="en-US" dirty="0" smtClean="0"/>
              <a:t>): a </a:t>
            </a:r>
            <a:r>
              <a:rPr lang="en-US" dirty="0"/>
              <a:t>place you buy </a:t>
            </a:r>
            <a:r>
              <a:rPr lang="en-US" dirty="0" smtClean="0"/>
              <a:t>things</a:t>
            </a:r>
            <a:br>
              <a:rPr lang="en-US" dirty="0" smtClean="0"/>
            </a:br>
            <a:r>
              <a:rPr lang="en-US" dirty="0" smtClean="0"/>
              <a:t>e.g. </a:t>
            </a:r>
            <a:r>
              <a:rPr lang="en-US" dirty="0"/>
              <a:t>There are many stores in this mall.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467977" y="2054195"/>
            <a:ext cx="2882900" cy="1644650"/>
          </a:xfrm>
        </p:spPr>
        <p:txBody>
          <a:bodyPr/>
          <a:lstStyle/>
          <a:p>
            <a:r>
              <a:rPr lang="en-US" dirty="0" smtClean="0"/>
              <a:t>With a partner, talk about shopping.</a:t>
            </a:r>
          </a:p>
          <a:p>
            <a:r>
              <a:rPr lang="en-US" dirty="0" smtClean="0"/>
              <a:t>Think of </a:t>
            </a:r>
            <a:r>
              <a:rPr lang="en-US" dirty="0" smtClean="0"/>
              <a:t>3 </a:t>
            </a:r>
            <a:r>
              <a:rPr lang="en-US" dirty="0" smtClean="0"/>
              <a:t>good things</a:t>
            </a:r>
            <a:r>
              <a:rPr lang="en-US" dirty="0" smtClean="0"/>
              <a:t>. Examples: new clothes and fun.</a:t>
            </a:r>
            <a:endParaRPr lang="en-US" dirty="0" smtClean="0"/>
          </a:p>
          <a:p>
            <a:r>
              <a:rPr lang="en-US" dirty="0" smtClean="0"/>
              <a:t>Think of </a:t>
            </a:r>
            <a:r>
              <a:rPr lang="en-US" dirty="0" smtClean="0"/>
              <a:t>3 </a:t>
            </a:r>
            <a:r>
              <a:rPr lang="en-US" dirty="0" smtClean="0"/>
              <a:t>bad things</a:t>
            </a:r>
            <a:r>
              <a:rPr lang="en-US" dirty="0" smtClean="0"/>
              <a:t>. Examples: noisy and crowded.</a:t>
            </a:r>
            <a:endParaRPr lang="en-US" dirty="0" smtClean="0"/>
          </a:p>
          <a:p>
            <a:r>
              <a:rPr lang="en-US" dirty="0" smtClean="0"/>
              <a:t>Complete the table.</a:t>
            </a:r>
          </a:p>
          <a:p>
            <a:r>
              <a:rPr lang="en-US" dirty="0" smtClean="0"/>
              <a:t>Compare your answers.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7"/>
          </p:nvPr>
        </p:nvSpPr>
        <p:spPr>
          <a:xfrm>
            <a:off x="467977" y="1412844"/>
            <a:ext cx="5308600" cy="641351"/>
          </a:xfrm>
        </p:spPr>
        <p:txBody>
          <a:bodyPr/>
          <a:lstStyle/>
          <a:p>
            <a:r>
              <a:rPr lang="en-US" dirty="0" smtClean="0"/>
              <a:t>Do you like shopping? </a:t>
            </a:r>
          </a:p>
          <a:p>
            <a:r>
              <a:rPr lang="en-US" sz="1000" dirty="0" smtClean="0"/>
              <a:t>What are the good things about shopping? What are the bad things</a:t>
            </a:r>
            <a:r>
              <a:rPr lang="en-US" sz="1000" dirty="0" smtClean="0"/>
              <a:t>?</a:t>
            </a:r>
            <a:endParaRPr lang="en-US" sz="1000" dirty="0" smtClean="0"/>
          </a:p>
          <a:p>
            <a:r>
              <a:rPr lang="en-US" sz="1000" i="1" dirty="0" smtClean="0"/>
              <a:t>Instructions</a:t>
            </a:r>
            <a:r>
              <a:rPr lang="en-US" sz="1000" i="1" dirty="0"/>
              <a:t>: Complete the following steps. Fill in the Self Assessment.</a:t>
            </a:r>
            <a:endParaRPr lang="en-US" sz="1000" dirty="0" smtClean="0"/>
          </a:p>
          <a:p>
            <a:endParaRPr lang="en-US" sz="1000" b="1" dirty="0"/>
          </a:p>
        </p:txBody>
      </p:sp>
      <p:sp>
        <p:nvSpPr>
          <p:cNvPr id="7" name="Shape 193"/>
          <p:cNvSpPr/>
          <p:nvPr/>
        </p:nvSpPr>
        <p:spPr>
          <a:xfrm>
            <a:off x="5642444" y="2525154"/>
            <a:ext cx="281400" cy="281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000" b="1" dirty="0" smtClean="0">
                <a:solidFill>
                  <a:srgbClr val="FFFFFF"/>
                </a:solidFill>
              </a:rPr>
              <a:t>Y</a:t>
            </a:r>
            <a:r>
              <a:rPr lang="en-US" sz="1000" b="1" dirty="0" smtClean="0">
                <a:solidFill>
                  <a:srgbClr val="FFFFFF"/>
                </a:solidFill>
              </a:rPr>
              <a:t>es</a:t>
            </a:r>
            <a:endParaRPr sz="1000" b="1" dirty="0">
              <a:solidFill>
                <a:srgbClr val="FFFFFF"/>
              </a:solidFill>
            </a:endParaRPr>
          </a:p>
        </p:txBody>
      </p:sp>
      <p:sp>
        <p:nvSpPr>
          <p:cNvPr id="8" name="Shape 194"/>
          <p:cNvSpPr/>
          <p:nvPr/>
        </p:nvSpPr>
        <p:spPr>
          <a:xfrm>
            <a:off x="6064314" y="2531640"/>
            <a:ext cx="281400" cy="281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000" b="1" dirty="0" smtClean="0">
                <a:solidFill>
                  <a:srgbClr val="FFFFFF"/>
                </a:solidFill>
              </a:rPr>
              <a:t>N</a:t>
            </a:r>
            <a:r>
              <a:rPr lang="en-US" sz="1000" b="1" dirty="0" smtClean="0">
                <a:solidFill>
                  <a:srgbClr val="FFFFFF"/>
                </a:solidFill>
              </a:rPr>
              <a:t>o</a:t>
            </a:r>
            <a:endParaRPr sz="1000" b="1" dirty="0">
              <a:solidFill>
                <a:srgbClr val="FFFFFF"/>
              </a:solidFill>
            </a:endParaRPr>
          </a:p>
        </p:txBody>
      </p:sp>
      <p:sp>
        <p:nvSpPr>
          <p:cNvPr id="9" name="Shape 200"/>
          <p:cNvSpPr/>
          <p:nvPr/>
        </p:nvSpPr>
        <p:spPr>
          <a:xfrm>
            <a:off x="5652093" y="2887131"/>
            <a:ext cx="269814" cy="2705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12700">
            <a:solidFill/>
            <a:miter lim="400000"/>
          </a:ln>
        </p:spPr>
        <p:txBody>
          <a:bodyPr lIns="0" tIns="0" rIns="0" bIns="0" anchor="ctr"/>
          <a:lstStyle/>
          <a:p>
            <a:pPr lvl="0" algn="ctr">
              <a:defRPr sz="10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" name="Shape 201"/>
          <p:cNvSpPr/>
          <p:nvPr/>
        </p:nvSpPr>
        <p:spPr>
          <a:xfrm>
            <a:off x="6070677" y="2885155"/>
            <a:ext cx="269814" cy="2705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12700">
            <a:solidFill/>
            <a:miter lim="400000"/>
          </a:ln>
        </p:spPr>
        <p:txBody>
          <a:bodyPr lIns="0" tIns="0" rIns="0" bIns="0" anchor="ctr"/>
          <a:lstStyle/>
          <a:p>
            <a:pPr lvl="0" algn="ctr">
              <a:defRPr sz="10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" name="Shape 202"/>
          <p:cNvSpPr/>
          <p:nvPr/>
        </p:nvSpPr>
        <p:spPr>
          <a:xfrm>
            <a:off x="5648809" y="3229584"/>
            <a:ext cx="269814" cy="2705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12700">
            <a:solidFill/>
            <a:miter lim="400000"/>
          </a:ln>
        </p:spPr>
        <p:txBody>
          <a:bodyPr lIns="0" tIns="0" rIns="0" bIns="0" anchor="ctr"/>
          <a:lstStyle/>
          <a:p>
            <a:pPr lvl="0" algn="ctr">
              <a:defRPr sz="10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" name="Shape 203"/>
          <p:cNvSpPr/>
          <p:nvPr/>
        </p:nvSpPr>
        <p:spPr>
          <a:xfrm>
            <a:off x="6069278" y="3228006"/>
            <a:ext cx="269814" cy="2705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12700">
            <a:solidFill/>
            <a:miter lim="400000"/>
          </a:ln>
        </p:spPr>
        <p:txBody>
          <a:bodyPr lIns="0" tIns="0" rIns="0" bIns="0" anchor="ctr"/>
          <a:lstStyle/>
          <a:p>
            <a:pPr lvl="0" algn="ctr">
              <a:defRPr sz="10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" name="Shape 204"/>
          <p:cNvSpPr/>
          <p:nvPr/>
        </p:nvSpPr>
        <p:spPr>
          <a:xfrm>
            <a:off x="5649840" y="3570518"/>
            <a:ext cx="269814" cy="2705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12700">
            <a:solidFill/>
            <a:miter lim="400000"/>
          </a:ln>
        </p:spPr>
        <p:txBody>
          <a:bodyPr lIns="0" tIns="0" rIns="0" bIns="0" anchor="ctr"/>
          <a:lstStyle/>
          <a:p>
            <a:pPr lvl="0" algn="ctr">
              <a:defRPr sz="10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" name="Shape 205"/>
          <p:cNvSpPr/>
          <p:nvPr/>
        </p:nvSpPr>
        <p:spPr>
          <a:xfrm>
            <a:off x="6069279" y="3568977"/>
            <a:ext cx="269814" cy="2705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12700">
            <a:solidFill/>
            <a:miter lim="400000"/>
          </a:ln>
        </p:spPr>
        <p:txBody>
          <a:bodyPr lIns="0" tIns="0" rIns="0" bIns="0" anchor="ctr"/>
          <a:lstStyle/>
          <a:p>
            <a:pPr lvl="0" algn="ctr">
              <a:defRPr sz="10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" name="Shape 225"/>
          <p:cNvSpPr/>
          <p:nvPr/>
        </p:nvSpPr>
        <p:spPr>
          <a:xfrm>
            <a:off x="3799112" y="2577672"/>
            <a:ext cx="1777898" cy="1554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l" defTabSz="685800">
              <a:buSzPct val="100000"/>
            </a:pPr>
            <a:r>
              <a:rPr 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/>
                <a:cs typeface="Verdana"/>
              </a:rPr>
              <a:t>Self </a:t>
            </a:r>
            <a:r>
              <a:rPr 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Verdana"/>
                <a:cs typeface="Verdana"/>
              </a:rPr>
              <a:t>Assessment</a:t>
            </a:r>
          </a:p>
          <a:p>
            <a:pPr lvl="0" defTabSz="685800">
              <a:spcBef>
                <a:spcPts val="1500"/>
              </a:spcBef>
              <a:buSzPct val="100000"/>
            </a:pPr>
            <a:r>
              <a:rPr lang="en-US" sz="1000" dirty="0"/>
              <a:t>I talk about shopping.</a:t>
            </a:r>
            <a:endParaRPr lang="en-CA" sz="1000" dirty="0" smtClean="0">
              <a:ea typeface="Myriad Pro"/>
              <a:cs typeface="Verdana"/>
              <a:sym typeface="Myriad Pro"/>
            </a:endParaRPr>
          </a:p>
          <a:p>
            <a:pPr lvl="0" defTabSz="685800">
              <a:spcBef>
                <a:spcPts val="1500"/>
              </a:spcBef>
              <a:buSzPct val="100000"/>
            </a:pPr>
            <a:r>
              <a:rPr lang="en-CA" sz="1000" dirty="0"/>
              <a:t>I write </a:t>
            </a:r>
            <a:r>
              <a:rPr lang="en-CA" sz="1000" dirty="0" smtClean="0"/>
              <a:t>3 </a:t>
            </a:r>
            <a:r>
              <a:rPr lang="en-CA" sz="1000" dirty="0"/>
              <a:t>good things.</a:t>
            </a:r>
            <a:endParaRPr lang="en-CA" sz="1000" dirty="0" smtClean="0">
              <a:sym typeface="Myriad Pro"/>
            </a:endParaRPr>
          </a:p>
          <a:p>
            <a:pPr lvl="0" defTabSz="685800">
              <a:spcBef>
                <a:spcPts val="1500"/>
              </a:spcBef>
              <a:buSzPct val="100000"/>
            </a:pPr>
            <a:r>
              <a:rPr lang="en-CA" sz="1000" dirty="0"/>
              <a:t>I write </a:t>
            </a:r>
            <a:r>
              <a:rPr lang="en-CA" sz="1000" dirty="0" smtClean="0"/>
              <a:t>3 </a:t>
            </a:r>
            <a:r>
              <a:rPr lang="en-CA" sz="1000" dirty="0"/>
              <a:t>bad things</a:t>
            </a:r>
            <a:r>
              <a:rPr lang="en-CA" sz="1000" dirty="0" smtClean="0"/>
              <a:t>.</a:t>
            </a:r>
          </a:p>
          <a:p>
            <a:pPr lvl="0" defTabSz="685800">
              <a:spcBef>
                <a:spcPts val="1500"/>
              </a:spcBef>
              <a:buSzPct val="100000"/>
            </a:pPr>
            <a:r>
              <a:rPr lang="en-CA" sz="1000" dirty="0"/>
              <a:t>I share with a partner.</a:t>
            </a:r>
            <a:endParaRPr lang="en-CA" sz="1000" dirty="0">
              <a:ea typeface="Myriad Pro"/>
              <a:cs typeface="Verdana"/>
              <a:sym typeface="Myriad Pro"/>
            </a:endParaRPr>
          </a:p>
        </p:txBody>
      </p:sp>
      <p:sp>
        <p:nvSpPr>
          <p:cNvPr id="16" name="Rounded Rectangle 6"/>
          <p:cNvSpPr/>
          <p:nvPr/>
        </p:nvSpPr>
        <p:spPr>
          <a:xfrm>
            <a:off x="3736398" y="2393583"/>
            <a:ext cx="2910781" cy="1892667"/>
          </a:xfrm>
          <a:prstGeom prst="roundRect">
            <a:avLst>
              <a:gd name="adj" fmla="val 11375"/>
            </a:avLst>
          </a:prstGeom>
          <a:noFill/>
          <a:ln w="12700" cap="flat">
            <a:solidFill>
              <a:schemeClr val="tx1">
                <a:lumMod val="50000"/>
                <a:lumOff val="50000"/>
              </a:schemeClr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7" name="Shape 204"/>
          <p:cNvSpPr/>
          <p:nvPr/>
        </p:nvSpPr>
        <p:spPr>
          <a:xfrm>
            <a:off x="5641670" y="3934594"/>
            <a:ext cx="269814" cy="2705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12700">
            <a:solidFill/>
            <a:miter lim="400000"/>
          </a:ln>
        </p:spPr>
        <p:txBody>
          <a:bodyPr lIns="0" tIns="0" rIns="0" bIns="0" anchor="ctr"/>
          <a:lstStyle/>
          <a:p>
            <a:pPr lvl="0" algn="ctr">
              <a:defRPr sz="10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" name="Shape 205"/>
          <p:cNvSpPr/>
          <p:nvPr/>
        </p:nvSpPr>
        <p:spPr>
          <a:xfrm>
            <a:off x="6061109" y="3933053"/>
            <a:ext cx="269814" cy="2705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12700">
            <a:solidFill/>
            <a:miter lim="400000"/>
          </a:ln>
        </p:spPr>
        <p:txBody>
          <a:bodyPr lIns="0" tIns="0" rIns="0" bIns="0" anchor="ctr"/>
          <a:lstStyle/>
          <a:p>
            <a:pPr lvl="0" algn="ctr">
              <a:defRPr sz="10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" name="Title 6"/>
          <p:cNvSpPr txBox="1">
            <a:spLocks/>
          </p:cNvSpPr>
          <p:nvPr/>
        </p:nvSpPr>
        <p:spPr>
          <a:xfrm>
            <a:off x="1676266" y="243840"/>
            <a:ext cx="2499494" cy="2131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1200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Everyone Loves Shopping</a:t>
            </a:r>
            <a:endParaRPr lang="en-US" dirty="0"/>
          </a:p>
        </p:txBody>
      </p: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1551035"/>
              </p:ext>
            </p:extLst>
          </p:nvPr>
        </p:nvGraphicFramePr>
        <p:xfrm>
          <a:off x="398153" y="3339916"/>
          <a:ext cx="3251200" cy="156210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1635751"/>
                <a:gridCol w="1615449"/>
              </a:tblGrid>
              <a:tr h="302843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/>
                        <a:t>Good Things</a:t>
                      </a:r>
                      <a:endParaRPr lang="en-US" sz="1100" b="1" dirty="0"/>
                    </a:p>
                  </a:txBody>
                  <a:tcPr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/>
                        <a:t>Bad Things</a:t>
                      </a:r>
                      <a:endParaRPr lang="en-US" sz="1100" b="1" dirty="0"/>
                    </a:p>
                  </a:txBody>
                  <a:tcPr>
                    <a:solidFill>
                      <a:srgbClr val="A6A6A6"/>
                    </a:solidFill>
                  </a:tcPr>
                </a:tc>
              </a:tr>
              <a:tr h="1259257">
                <a:tc>
                  <a:txBody>
                    <a:bodyPr/>
                    <a:lstStyle/>
                    <a:p>
                      <a:endParaRPr lang="en-US" sz="10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0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2623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b="1" dirty="0" smtClean="0"/>
              <a:t>Types of Stores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469899" y="1980318"/>
            <a:ext cx="5879932" cy="3129081"/>
          </a:xfrm>
        </p:spPr>
        <p:txBody>
          <a:bodyPr/>
          <a:lstStyle/>
          <a:p>
            <a:r>
              <a:rPr lang="en-US" dirty="0"/>
              <a:t>Stores are places you buy things. There are many different types of stores. Different countries have different types of stores.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In Europe, many stores are often specialized -- they sell a small number of things:</a:t>
            </a:r>
            <a:br>
              <a:rPr lang="en-US" b="1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bakery - bread</a:t>
            </a:r>
            <a:br>
              <a:rPr lang="en-US" dirty="0"/>
            </a:br>
            <a:r>
              <a:rPr lang="en-US" dirty="0"/>
              <a:t>pastry shop - pastries</a:t>
            </a:r>
            <a:br>
              <a:rPr lang="en-US" dirty="0"/>
            </a:br>
            <a:r>
              <a:rPr lang="en-US" dirty="0"/>
              <a:t>pharmacy (drugstore) - medication</a:t>
            </a:r>
            <a:br>
              <a:rPr lang="en-US" dirty="0"/>
            </a:br>
            <a:r>
              <a:rPr lang="en-US" dirty="0"/>
              <a:t>perfumery - perfume</a:t>
            </a:r>
            <a:br>
              <a:rPr lang="en-US" dirty="0"/>
            </a:br>
            <a:r>
              <a:rPr lang="en-US" dirty="0"/>
              <a:t>butcher shop - meat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In North America, stores are more generalized - they sell many things:</a:t>
            </a:r>
            <a:br>
              <a:rPr lang="en-US" b="1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grocery store - fruits, vegetables, meat, bread, etc.</a:t>
            </a:r>
            <a:br>
              <a:rPr lang="en-US" dirty="0"/>
            </a:br>
            <a:r>
              <a:rPr lang="en-US" dirty="0"/>
              <a:t>supermarket - a large grocery store</a:t>
            </a:r>
            <a:br>
              <a:rPr lang="en-US" dirty="0"/>
            </a:br>
            <a:r>
              <a:rPr lang="en-US" dirty="0"/>
              <a:t>convenience store (corner store) - milk, bread, candy, newspapers, etc. </a:t>
            </a:r>
            <a:br>
              <a:rPr lang="en-US" dirty="0"/>
            </a:br>
            <a:r>
              <a:rPr lang="en-US" dirty="0"/>
              <a:t>hardware store - nails, tools, cleaning supplies, etc.</a:t>
            </a:r>
            <a:br>
              <a:rPr lang="en-US" dirty="0"/>
            </a:br>
            <a:r>
              <a:rPr lang="en-US" dirty="0"/>
              <a:t>department store - clothing, furniture, shoes, perfume, etc.</a:t>
            </a:r>
            <a:br>
              <a:rPr lang="en-US" dirty="0"/>
            </a:br>
            <a:r>
              <a:rPr lang="en-US" dirty="0"/>
              <a:t>outlet stores - large stores that get items directly from the company </a:t>
            </a:r>
            <a:r>
              <a:rPr lang="en-US" dirty="0" smtClean="0"/>
              <a:t>that</a:t>
            </a:r>
            <a:r>
              <a:rPr lang="en-US" dirty="0" smtClean="0"/>
              <a:t> </a:t>
            </a:r>
            <a:r>
              <a:rPr lang="en-US" dirty="0"/>
              <a:t>makes them.</a:t>
            </a:r>
          </a:p>
        </p:txBody>
      </p:sp>
      <p:sp>
        <p:nvSpPr>
          <p:cNvPr id="6" name="Title 6"/>
          <p:cNvSpPr txBox="1">
            <a:spLocks/>
          </p:cNvSpPr>
          <p:nvPr/>
        </p:nvSpPr>
        <p:spPr>
          <a:xfrm>
            <a:off x="1676266" y="243840"/>
            <a:ext cx="2499494" cy="2131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1200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Everyone Loves Shopping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0679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="" val="1"/>
          </a:ext>
        </a:extLst>
      </a:spPr>
      <a:bodyPr wrap="square" lIns="0" tIns="0" rIns="0" bIns="0">
        <a:spAutoFit/>
      </a:bodyPr>
      <a:lstStyle>
        <a:defPPr marL="110289" indent="-110289" defTabSz="685800">
          <a:spcAft>
            <a:spcPts val="200"/>
          </a:spcAft>
          <a:buSzPct val="100000"/>
          <a:buChar char="•"/>
          <a:defRPr sz="1000" b="1" dirty="0" smtClean="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  <a:sym typeface="Myriad Pro Semibold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1875</TotalTime>
  <Words>536</Words>
  <Application>Microsoft Office PowerPoint</Application>
  <PresentationFormat>On-screen Show (4:3)</PresentationFormat>
  <Paragraphs>93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Arial</vt:lpstr>
      <vt:lpstr>Calibri</vt:lpstr>
      <vt:lpstr>Helvetica</vt:lpstr>
      <vt:lpstr>Helvetica Neue</vt:lpstr>
      <vt:lpstr>Myriad Pro</vt:lpstr>
      <vt:lpstr>Myriad Pro Semibold</vt:lpstr>
      <vt:lpstr>Verdana</vt:lpstr>
      <vt:lpstr>Office Theme</vt:lpstr>
      <vt:lpstr>Everyone Loves Shopping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Aamir</dc:creator>
  <cp:lastModifiedBy>Anne-Louise Power</cp:lastModifiedBy>
  <cp:revision>135</cp:revision>
  <cp:lastPrinted>2015-07-16T15:48:24Z</cp:lastPrinted>
  <dcterms:created xsi:type="dcterms:W3CDTF">2015-07-06T14:08:02Z</dcterms:created>
  <dcterms:modified xsi:type="dcterms:W3CDTF">2015-08-04T13:52:51Z</dcterms:modified>
</cp:coreProperties>
</file>